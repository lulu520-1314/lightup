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3072384"/>
            <a:ext cx="77724" cy="2560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33688" y="2682355"/>
            <a:ext cx="77724" cy="1036088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34856" y="2428891"/>
            <a:ext cx="77724" cy="1543017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36024" y="2391437"/>
            <a:ext cx="77724" cy="161792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37192" y="2562058"/>
            <a:ext cx="77724" cy="1276683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38360" y="2855260"/>
            <a:ext cx="77724" cy="690279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39528" y="2993644"/>
            <a:ext cx="77724" cy="413511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40696" y="2795632"/>
            <a:ext cx="77724" cy="809534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341864" y="2738312"/>
            <a:ext cx="77724" cy="924175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43032" y="2800406"/>
            <a:ext cx="77724" cy="799987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44200" y="2920601"/>
            <a:ext cx="77724" cy="559597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45368" y="3035400"/>
            <a:ext cx="77724" cy="329999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46536" y="3035854"/>
            <a:ext cx="77724" cy="329091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47704" y="3004687"/>
            <a:ext cx="77724" cy="391424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48872" y="2997202"/>
            <a:ext cx="77724" cy="406395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50040" y="2998863"/>
            <a:ext cx="77724" cy="403073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51208" y="3014211"/>
            <a:ext cx="77724" cy="372376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152376" y="3062341"/>
            <a:ext cx="77724" cy="276117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353544" y="2988691"/>
            <a:ext cx="77724" cy="4234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554712" y="2865005"/>
            <a:ext cx="77724" cy="670788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755880" y="2761808"/>
            <a:ext cx="77724" cy="877182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57048" y="2746254"/>
            <a:ext cx="77724" cy="908291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158216" y="2866395"/>
            <a:ext cx="77724" cy="668009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359384" y="3028066"/>
            <a:ext cx="77724" cy="344667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560552" y="2718670"/>
            <a:ext cx="77724" cy="963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761720" y="2465419"/>
            <a:ext cx="77724" cy="1469961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962888" y="2379717"/>
            <a:ext cx="77724" cy="1641364"/>
          </a:xfrm>
          <a:prstGeom prst="rect">
            <a:avLst/>
          </a:prstGeom>
          <a:solidFill>
            <a:srgbClr val="3A30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64056" y="2516661"/>
            <a:ext cx="77724" cy="13674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105156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C9A227"/>
                </a:solidFill>
                <a:latin typeface="Microsoft YaHei"/>
                <a:ea typeface="Microsoft YaHei"/>
              </a:rPr>
              <a:t>欧莱雅「无界体验家」美妆科技赛 · 赛题 3 · 主题二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1600200"/>
            <a:ext cx="74980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600" b="1">
                <a:solidFill>
                  <a:srgbClr val="ECECEE"/>
                </a:solidFill>
                <a:latin typeface="Microsoft YaHei"/>
                <a:ea typeface="Microsoft YaHei"/>
              </a:rPr>
              <a:t>听见颜色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06324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900" b="0">
                <a:solidFill>
                  <a:srgbClr val="9A9AA3"/>
                </a:solidFill>
                <a:latin typeface="Microsoft YaHei"/>
                <a:ea typeface="Microsoft YaHei"/>
              </a:rPr>
              <a:t>LightUp 光引 —— 面向视障人群的无障碍美妆决策助手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160520"/>
            <a:ext cx="146304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5262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E8CF7A"/>
                </a:solidFill>
                <a:latin typeface="Microsoft YaHei"/>
                <a:ea typeface="Microsoft YaHei"/>
              </a:rPr>
              <a:t>让美，不依赖眼睛。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989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64646D"/>
                </a:solidFill>
                <a:latin typeface="Microsoft YaHei"/>
                <a:ea typeface="Microsoft YaHei"/>
              </a:rPr>
              <a:t>AI 如何在美妆结合社会与企业责任的领域发挥作用？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ECECEE"/>
                </a:solidFill>
                <a:latin typeface="Microsoft YaHei"/>
                <a:ea typeface="Microsoft YaHei"/>
              </a:rPr>
              <a:t>他们买口红时，是在赌一个看不见的答案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美妆是社交与就业的“隐形门槛”，而这道门槛对视障人群几乎不可跨越。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82296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154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5643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1">
                <a:solidFill>
                  <a:srgbClr val="ECECEE"/>
                </a:solidFill>
                <a:latin typeface="Microsoft YaHei"/>
                <a:ea typeface="Microsoft YaHei"/>
              </a:rPr>
              <a:t>“这个红，是哪个红？”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041648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9A9AA3"/>
                </a:solidFill>
                <a:latin typeface="Microsoft YaHei"/>
                <a:ea typeface="Microsoft YaHei"/>
              </a:rPr>
              <a:t>柜台前，只能请陌生人帮忙描述——而描述永远停在“挺好看的”。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288036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3154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345643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1">
                <a:solidFill>
                  <a:srgbClr val="ECECEE"/>
                </a:solidFill>
                <a:latin typeface="Microsoft YaHei"/>
                <a:ea typeface="Microsoft YaHei"/>
              </a:rPr>
              <a:t>“柜姐说显白，我不知道什么叫显白。”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4041648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9A9AA3"/>
                </a:solidFill>
                <a:latin typeface="Microsoft YaHei"/>
                <a:ea typeface="Microsoft YaHei"/>
              </a:rPr>
              <a:t>没有肤色判断的参照系，只能反复买错、反复闲置。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0376" y="288036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2984" y="3154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4" y="345643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1">
                <a:solidFill>
                  <a:srgbClr val="ECECEE"/>
                </a:solidFill>
                <a:latin typeface="Microsoft YaHei"/>
                <a:ea typeface="Microsoft YaHei"/>
              </a:rPr>
              <a:t>“涂完出门，我不知道有没有涂出界。”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2984" y="4041648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9A9AA3"/>
                </a:solidFill>
                <a:latin typeface="Microsoft YaHei"/>
                <a:ea typeface="Microsoft YaHei"/>
              </a:rPr>
              <a:t>没有人能随时告诉她：嘴唇边缘还差一点点。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3892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中国视力残疾人群 </a:t>
            </a:r>
            <a:r>
              <a:rPr sz="2400" b="1">
                <a:solidFill>
                  <a:srgbClr val="E8CF7A"/>
                </a:solidFill>
                <a:latin typeface="Microsoft YaHei"/>
                <a:ea typeface="Microsoft YaHei"/>
              </a:rPr>
              <a:t>1700 万+</a:t>
            </a: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　　其中女性约占一半，正是美妆的核心用户。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64646D"/>
                </a:solidFill>
                <a:latin typeface="Microsoft YaHei"/>
                <a:ea typeface="Microsoft YaHei"/>
              </a:rPr>
              <a:t>数据口径：中国残联 / 世界卫生组织公开资料整理；用于说明需求规模，非精确统计。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ECECEE"/>
                </a:solidFill>
                <a:latin typeface="Microsoft YaHei"/>
                <a:ea typeface="Microsoft YaHei"/>
              </a:rPr>
              <a:t>我们检索了 GitHub：零件都在，场景是空的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这说明问题不在“技术做不到”，而在“没人把它翻译成他们能用的形式”。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82296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8CF7A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4646D"/>
                </a:solidFill>
                <a:latin typeface="Microsoft YaHei"/>
                <a:ea typeface="Microsoft YaHei"/>
              </a:rPr>
              <a:t>visually impaired makeup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CECEE"/>
                </a:solidFill>
                <a:latin typeface="Microsoft YaHei"/>
                <a:ea typeface="Microsoft YaHei"/>
              </a:rPr>
              <a:t>视障 × 美妆：无开源项目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27432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8CF7A"/>
                </a:solidFill>
                <a:latin typeface="Microsoft YaHei"/>
                <a:ea typeface="Microsoft YaHei"/>
              </a:rP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36118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4646D"/>
                </a:solidFill>
                <a:latin typeface="Microsoft YaHei"/>
                <a:ea typeface="Microsoft YaHei"/>
              </a:rPr>
              <a:t>cosmetic ingredient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3977639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CECEE"/>
                </a:solidFill>
                <a:latin typeface="Microsoft YaHei"/>
                <a:ea typeface="Microsoft YaHei"/>
              </a:rPr>
              <a:t>成分识别：组件成熟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6" y="274320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E8CF7A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0376" y="36118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64646D"/>
                </a:solidFill>
                <a:latin typeface="Microsoft YaHei"/>
                <a:ea typeface="Microsoft YaHei"/>
              </a:rPr>
              <a:t>sonification accessibility blind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6" y="3977639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CECEE"/>
                </a:solidFill>
                <a:latin typeface="Microsoft YaHei"/>
                <a:ea typeface="Microsoft YaHei"/>
              </a:rPr>
              <a:t>声化无障碍：范式成熟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92040"/>
            <a:ext cx="10637215" cy="10972"/>
          </a:xfrm>
          <a:prstGeom prst="rect">
            <a:avLst/>
          </a:prstGeom>
          <a:solidFill>
            <a:srgbClr val="2323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C9A227"/>
                </a:solidFill>
                <a:latin typeface="Microsoft YaHei"/>
                <a:ea typeface="Microsoft YaHei"/>
              </a:rPr>
              <a:t>结论：</a:t>
            </a:r>
            <a:r>
              <a:rPr sz="1400" b="0">
                <a:solidFill>
                  <a:srgbClr val="ECECEE"/>
                </a:solidFill>
                <a:latin typeface="Microsoft YaHei"/>
                <a:ea typeface="Microsoft YaHei"/>
              </a:rPr>
              <a:t>把成熟的视觉、色差、声化组件接起来，只补“美妆语境下的翻译层”，就能做出别人没做过的东西。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64646D"/>
                </a:solidFill>
                <a:latin typeface="Microsoft YaHei"/>
                <a:ea typeface="Microsoft YaHei"/>
              </a:rPr>
              <a:t>检索时间 2026-10；关键词为 GitHub 仓库搜索，结果为仓库总数。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ECECEE"/>
                </a:solidFill>
                <a:latin typeface="Microsoft YaHei"/>
                <a:ea typeface="Microsoft YaHei"/>
              </a:rPr>
              <a:t>核心洞察：颜色需要一段「可记忆的指纹」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现有 AI 都在“描述世界”，但视障者需要的不是描述，是“能记住、能复述”的判断依据。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82296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78608"/>
            <a:ext cx="10637215" cy="365760"/>
          </a:xfrm>
          <a:prstGeom prst="rect">
            <a:avLst/>
          </a:prstGeom>
          <a:solidFill>
            <a:srgbClr val="0D0D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700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色相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67004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CECEE"/>
                </a:solidFill>
                <a:latin typeface="Microsoft YaHei"/>
                <a:ea typeface="Microsoft YaHei"/>
              </a:rPr>
              <a:t>五声音阶 · 两个八度（10 个音位）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7004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9A9AA3"/>
                </a:solidFill>
                <a:latin typeface="Microsoft YaHei"/>
                <a:ea typeface="Microsoft YaHei"/>
              </a:rPr>
              <a:t>任何颜色都有唯一音高位置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冷暖调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21868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CECEE"/>
                </a:solidFill>
                <a:latin typeface="Microsoft YaHei"/>
                <a:ea typeface="Microsoft YaHei"/>
              </a:rPr>
              <a:t>大三和弦 / 小三和弦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1868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9A9AA3"/>
                </a:solidFill>
                <a:latin typeface="Microsoft YaHei"/>
                <a:ea typeface="Microsoft YaHei"/>
              </a:rPr>
              <a:t>听一秒就知道偏橘还是偏莓果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675888"/>
            <a:ext cx="10637215" cy="365760"/>
          </a:xfrm>
          <a:prstGeom prst="rect">
            <a:avLst/>
          </a:prstGeom>
          <a:solidFill>
            <a:srgbClr val="0D0D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明度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76732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CECEE"/>
                </a:solidFill>
                <a:latin typeface="Microsoft YaHei"/>
                <a:ea typeface="Microsoft YaHei"/>
              </a:rPr>
              <a:t>音量 + 八度微调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6732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9A9AA3"/>
                </a:solidFill>
                <a:latin typeface="Microsoft YaHei"/>
                <a:ea typeface="Microsoft YaHei"/>
              </a:rPr>
              <a:t>深色沉、浅色亮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159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饱和度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31596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CECEE"/>
                </a:solidFill>
                <a:latin typeface="Microsoft YaHei"/>
                <a:ea typeface="Microsoft YaHei"/>
              </a:rPr>
              <a:t>正弦 → 三角 → 锯齿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15968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9A9AA3"/>
                </a:solidFill>
                <a:latin typeface="Microsoft YaHei"/>
                <a:ea typeface="Microsoft YaHei"/>
              </a:rPr>
              <a:t>越艳，泛音越亮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828032"/>
            <a:ext cx="109728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029200"/>
            <a:ext cx="896112" cy="219456"/>
          </a:xfrm>
          <a:prstGeom prst="rect">
            <a:avLst/>
          </a:prstGeom>
          <a:solidFill>
            <a:srgbClr val="EA4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1266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850" b="0">
                <a:solidFill>
                  <a:srgbClr val="64646D"/>
                </a:solidFill>
                <a:latin typeface="Microsoft YaHei"/>
                <a:ea typeface="Microsoft YaHei"/>
              </a:rPr>
              <a:t>宫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55648" y="5029200"/>
            <a:ext cx="896112" cy="219456"/>
          </a:xfrm>
          <a:prstGeom prst="rect">
            <a:avLst/>
          </a:prstGeom>
          <a:solidFill>
            <a:srgbClr val="EAA7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55648" y="531266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850" b="0">
                <a:solidFill>
                  <a:srgbClr val="64646D"/>
                </a:solidFill>
                <a:latin typeface="Microsoft YaHei"/>
                <a:ea typeface="Microsoft YaHei"/>
              </a:rPr>
              <a:t>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34056" y="5029200"/>
            <a:ext cx="896112" cy="219456"/>
          </a:xfrm>
          <a:prstGeom prst="rect">
            <a:avLst/>
          </a:prstGeom>
          <a:solidFill>
            <a:srgbClr val="C8EA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34056" y="531266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850" b="0">
                <a:solidFill>
                  <a:srgbClr val="64646D"/>
                </a:solidFill>
                <a:latin typeface="Microsoft YaHei"/>
                <a:ea typeface="Microsoft YaHei"/>
              </a:rPr>
              <a:t>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12464" y="5029200"/>
            <a:ext cx="896112" cy="219456"/>
          </a:xfrm>
          <a:prstGeom prst="rect">
            <a:avLst/>
          </a:prstGeom>
          <a:solidFill>
            <a:srgbClr val="63EA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12464" y="531266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850" b="0">
                <a:solidFill>
                  <a:srgbClr val="64646D"/>
                </a:solidFill>
                <a:latin typeface="Microsoft YaHei"/>
                <a:ea typeface="Microsoft YaHei"/>
              </a:rPr>
              <a:t>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90872" y="5029200"/>
            <a:ext cx="896112" cy="219456"/>
          </a:xfrm>
          <a:prstGeom prst="rect">
            <a:avLst/>
          </a:prstGeom>
          <a:solidFill>
            <a:srgbClr val="41EA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531266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850" b="0">
                <a:solidFill>
                  <a:srgbClr val="64646D"/>
                </a:solidFill>
                <a:latin typeface="Microsoft YaHei"/>
                <a:ea typeface="Microsoft YaHei"/>
              </a:rPr>
              <a:t>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5029200"/>
            <a:ext cx="896112" cy="219456"/>
          </a:xfrm>
          <a:prstGeom prst="rect">
            <a:avLst/>
          </a:prstGeom>
          <a:solidFill>
            <a:srgbClr val="41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531266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850" b="0">
                <a:solidFill>
                  <a:srgbClr val="64646D"/>
                </a:solidFill>
                <a:latin typeface="Microsoft YaHei"/>
                <a:ea typeface="Microsoft YaHei"/>
              </a:rPr>
              <a:t>宫'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47688" y="5029200"/>
            <a:ext cx="896112" cy="219456"/>
          </a:xfrm>
          <a:prstGeom prst="rect">
            <a:avLst/>
          </a:prstGeom>
          <a:solidFill>
            <a:srgbClr val="4185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47688" y="531266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850" b="0">
                <a:solidFill>
                  <a:srgbClr val="64646D"/>
                </a:solidFill>
                <a:latin typeface="Microsoft YaHei"/>
                <a:ea typeface="Microsoft YaHei"/>
              </a:rPr>
              <a:t>商'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6096" y="5029200"/>
            <a:ext cx="896112" cy="219456"/>
          </a:xfrm>
          <a:prstGeom prst="rect">
            <a:avLst/>
          </a:prstGeom>
          <a:solidFill>
            <a:srgbClr val="634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531266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850" b="0">
                <a:solidFill>
                  <a:srgbClr val="64646D"/>
                </a:solidFill>
                <a:latin typeface="Microsoft YaHei"/>
                <a:ea typeface="Microsoft YaHei"/>
              </a:rPr>
              <a:t>角'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04504" y="5029200"/>
            <a:ext cx="896112" cy="219456"/>
          </a:xfrm>
          <a:prstGeom prst="rect">
            <a:avLst/>
          </a:prstGeom>
          <a:solidFill>
            <a:srgbClr val="C84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4504" y="531266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850" b="0">
                <a:solidFill>
                  <a:srgbClr val="64646D"/>
                </a:solidFill>
                <a:latin typeface="Microsoft YaHei"/>
                <a:ea typeface="Microsoft YaHei"/>
              </a:rPr>
              <a:t>徵'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82912" y="5029200"/>
            <a:ext cx="896112" cy="219456"/>
          </a:xfrm>
          <a:prstGeom prst="rect">
            <a:avLst/>
          </a:prstGeom>
          <a:solidFill>
            <a:srgbClr val="EA41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82912" y="5312664"/>
            <a:ext cx="8961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850" b="0">
                <a:solidFill>
                  <a:srgbClr val="64646D"/>
                </a:solidFill>
                <a:latin typeface="Microsoft YaHei"/>
                <a:ea typeface="Microsoft YaHei"/>
              </a:rPr>
              <a:t>羽'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5099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9A9AA3"/>
                </a:solidFill>
                <a:latin typeface="Microsoft YaHei"/>
                <a:ea typeface="Microsoft YaHei"/>
              </a:rPr>
              <a:t>360° 色相被切成 10 个音位，每个音位对应一段固定旋律——颜色从此可以被“背下来”。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089904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0">
                <a:solidFill>
                  <a:srgbClr val="E8CF7A"/>
                </a:solidFill>
                <a:latin typeface="Microsoft YaHei"/>
                <a:ea typeface="Microsoft YaHei"/>
              </a:rPr>
              <a:t>不是“把颜色说出来”，而是“让颜色被记住”——这是本项目与现有无障碍工具最本质的区别。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ECECEE"/>
                </a:solidFill>
                <a:latin typeface="Microsoft YaHei"/>
                <a:ea typeface="Microsoft YaHei"/>
              </a:rPr>
              <a:t>三个能力，让一个人独立走完整条链路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选色 → 试色 → 验妆，全程不需要第三个人在场。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82296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3246120" cy="2148840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9992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29184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200" b="1">
                <a:solidFill>
                  <a:srgbClr val="ECECEE"/>
                </a:solidFill>
                <a:latin typeface="Microsoft YaHei"/>
                <a:ea typeface="Microsoft YaHei"/>
              </a:rPr>
              <a:t>读色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78561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9A9AA3"/>
                </a:solidFill>
                <a:latin typeface="Microsoft YaHei"/>
                <a:ea typeface="Microsoft YaHei"/>
              </a:rPr>
              <a:t>举到镜头前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" y="4133087"/>
            <a:ext cx="4572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279392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E8CF7A"/>
                </a:solidFill>
                <a:latin typeface="Microsoft YaHei"/>
                <a:ea typeface="Microsoft YaHei"/>
              </a:rPr>
              <a:t>色号名 · 冷暖调 · 相近色 · 一段旋律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8808" y="2743200"/>
            <a:ext cx="3246120" cy="2148840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9992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329184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200" b="1">
                <a:solidFill>
                  <a:srgbClr val="ECECEE"/>
                </a:solidFill>
                <a:latin typeface="Microsoft YaHei"/>
                <a:ea typeface="Microsoft YaHei"/>
              </a:rPr>
              <a:t>诊肤色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378561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9A9AA3"/>
                </a:solidFill>
                <a:latin typeface="Microsoft YaHei"/>
                <a:ea typeface="Microsoft YaHei"/>
              </a:rPr>
              <a:t>正对镜头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9704" y="4133087"/>
            <a:ext cx="4572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4279392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E8CF7A"/>
                </a:solidFill>
                <a:latin typeface="Microsoft YaHei"/>
                <a:ea typeface="Microsoft YaHei"/>
              </a:rPr>
              <a:t>ITA° 肤色角 · 冷暖 · 推荐与避雷色系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0376" y="2743200"/>
            <a:ext cx="3246120" cy="2148840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2" y="299923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329184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200" b="1">
                <a:solidFill>
                  <a:srgbClr val="ECECEE"/>
                </a:solidFill>
                <a:latin typeface="Microsoft YaHei"/>
                <a:ea typeface="Microsoft YaHei"/>
              </a:rPr>
              <a:t>查妆容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378561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9A9AA3"/>
                </a:solidFill>
                <a:latin typeface="Microsoft YaHei"/>
                <a:ea typeface="Microsoft YaHei"/>
              </a:rPr>
              <a:t>涂完再测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91272" y="4133087"/>
            <a:ext cx="4572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91272" y="4279392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E8CF7A"/>
                </a:solidFill>
                <a:latin typeface="Microsoft YaHei"/>
                <a:ea typeface="Microsoft YaHei"/>
              </a:rPr>
              <a:t>与目标色的 ΔE 偏差 · 补涂建议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3036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00" b="0">
                <a:solidFill>
                  <a:srgbClr val="9A9AA3"/>
                </a:solidFill>
                <a:latin typeface="Microsoft YaHei"/>
                <a:ea typeface="Microsoft YaHei"/>
              </a:rPr>
              <a:t>配套无障碍设计：纯键盘可操作 · 语音与字幕双通道 · 大字 / 高对比模式 · 焦点可见 · 结果区 aria-live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8756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64646D"/>
                </a:solidFill>
                <a:latin typeface="Microsoft YaHei"/>
                <a:ea typeface="Microsoft YaHei"/>
              </a:rPr>
              <a:t>另有：可调取样半径 + 放大镜 · 实时试色 · 离线问答 · 声音总开关与语速（全部离线，不依赖任何 API）。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Microsoft YaHei"/>
                <a:ea typeface="Microsoft YaHei"/>
              </a:rPr>
              <a:t>演示 ①  读色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600" b="1">
                <a:solidFill>
                  <a:srgbClr val="ECECEE"/>
                </a:solidFill>
                <a:latin typeface="Microsoft YaHei"/>
                <a:ea typeface="Microsoft YaHei"/>
              </a:rPr>
              <a:t>它读出了「复古红」，偏差 6.4</a:t>
            </a:r>
          </a:p>
        </p:txBody>
      </p:sp>
      <p:pic>
        <p:nvPicPr>
          <p:cNvPr id="7" name="Picture 6" descr="10-read.png"/>
          <p:cNvPicPr>
            <a:picLocks noChangeAspect="1"/>
          </p:cNvPicPr>
          <p:nvPr/>
        </p:nvPicPr>
        <p:blipFill>
          <a:blip r:embed="rId2"/>
          <a:srcRect t="2697" b="2697"/>
          <a:stretch>
            <a:fillRect/>
          </a:stretch>
        </p:blipFill>
        <p:spPr>
          <a:xfrm>
            <a:off x="777240" y="1874519"/>
            <a:ext cx="781812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1874519"/>
            <a:ext cx="7818120" cy="4160520"/>
          </a:xfrm>
          <a:prstGeom prst="rect">
            <a:avLst/>
          </a:prstGeom>
          <a:noFill/>
          <a:ln w="9525">
            <a:solidFill>
              <a:srgbClr val="232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87968" y="2066544"/>
            <a:ext cx="32004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2011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ECECEE"/>
                </a:solidFill>
                <a:latin typeface="Microsoft YaHei"/>
                <a:ea typeface="Microsoft YaHei"/>
              </a:rPr>
              <a:t>478 点人脸网格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2860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MediaPipe 本地推理，GPU 委托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87968" y="3026664"/>
            <a:ext cx="32004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ECECEE"/>
                </a:solidFill>
                <a:latin typeface="Microsoft YaHei"/>
                <a:ea typeface="Microsoft YaHei"/>
              </a:rPr>
              <a:t>CIEDE2000 色差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246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不是 RGB 距离，与人眼感知一致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8" y="3986783"/>
            <a:ext cx="32004" cy="5669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39319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1">
                <a:solidFill>
                  <a:srgbClr val="ECECEE"/>
                </a:solidFill>
                <a:latin typeface="Microsoft YaHei"/>
                <a:ea typeface="Microsoft YaHei"/>
              </a:rPr>
              <a:t>同步声化 + 播报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206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先听旋律，再听结论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50749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000" b="0">
                <a:solidFill>
                  <a:srgbClr val="E8CF7A"/>
                </a:solidFill>
                <a:latin typeface="Microsoft YaHei"/>
                <a:ea typeface="Microsoft YaHei"/>
              </a:rPr>
              <a:t>同一支口红，不同人听，是同一段旋律。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Microsoft YaHei"/>
                <a:ea typeface="Microsoft YaHei"/>
              </a:rPr>
              <a:t>演示 ②  验妆 &amp; 诊肤色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2600" b="1">
                <a:solidFill>
                  <a:srgbClr val="ECECEE"/>
                </a:solidFill>
                <a:latin typeface="Microsoft YaHei"/>
                <a:ea typeface="Microsoft YaHei"/>
              </a:rPr>
              <a:t>从“买对色”到“涂对色”，闭环了</a:t>
            </a:r>
          </a:p>
        </p:txBody>
      </p:sp>
      <p:pic>
        <p:nvPicPr>
          <p:cNvPr id="7" name="Picture 6" descr="11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5120640" cy="28803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1920240"/>
            <a:ext cx="5120640" cy="2880360"/>
          </a:xfrm>
          <a:prstGeom prst="rect">
            <a:avLst/>
          </a:prstGeom>
          <a:noFill/>
          <a:ln w="9525">
            <a:solidFill>
              <a:srgbClr val="232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560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>
                <a:solidFill>
                  <a:srgbClr val="ECECEE"/>
                </a:solidFill>
                <a:latin typeface="Microsoft YaHei"/>
                <a:ea typeface="Microsoft YaHei"/>
              </a:rPr>
              <a:t>验妆：记住目标色 → 涂完再测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6694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偏差小于 4 判为一致，5–10 提示再补一层，超过 20 建议擦掉重涂。</a:t>
            </a:r>
          </a:p>
        </p:txBody>
      </p:sp>
      <p:pic>
        <p:nvPicPr>
          <p:cNvPr id="11" name="Picture 10" descr="12-s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20240"/>
            <a:ext cx="5120640" cy="28803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63640" y="1920240"/>
            <a:ext cx="5120640" cy="2880360"/>
          </a:xfrm>
          <a:prstGeom prst="rect">
            <a:avLst/>
          </a:prstGeom>
          <a:noFill/>
          <a:ln w="9525">
            <a:solidFill>
              <a:srgbClr val="2323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9560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>
                <a:solidFill>
                  <a:srgbClr val="ECECEE"/>
                </a:solidFill>
                <a:latin typeface="Microsoft YaHei"/>
                <a:ea typeface="Microsoft YaHei"/>
              </a:rPr>
              <a:t>诊肤色：ITA° 把“显白”变成可计算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26694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ITA 65°（非常浅）· 暖调 · L* 71 → 推荐砖红、枫叶红，避开蓝紫。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89320"/>
            <a:ext cx="109728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E8CF7A"/>
                </a:solidFill>
                <a:latin typeface="Microsoft YaHei"/>
                <a:ea typeface="Microsoft YaHei"/>
              </a:rPr>
              <a:t>两句提示都是可以直接播报的中文短句——不是把技术指标丢给用户。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ECECEE"/>
                </a:solidFill>
                <a:latin typeface="Microsoft YaHei"/>
                <a:ea typeface="Microsoft YaHei"/>
              </a:rPr>
              <a:t>技术架构：一条本地流水线，没有任何一环依赖云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纯前端实现，浏览器即可运行；模型与 WASM 全部本地化，断网可用。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82296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926080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649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ECECEE"/>
                </a:solidFill>
                <a:latin typeface="Microsoft YaHei"/>
                <a:ea typeface="Microsoft YaHei"/>
              </a:rPr>
              <a:t>采集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7588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9AA3"/>
                </a:solidFill>
                <a:latin typeface="Microsoft YaHei"/>
                <a:ea typeface="Microsoft YaHei"/>
              </a:rPr>
              <a:t>摄像头 / 照片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2200" b="0">
                <a:solidFill>
                  <a:srgbClr val="C9A227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2928" y="2926080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31089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3649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ECECEE"/>
                </a:solidFill>
                <a:latin typeface="Microsoft YaHei"/>
                <a:ea typeface="Microsoft YaHei"/>
              </a:rPr>
              <a:t>几何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67588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9AA3"/>
                </a:solidFill>
                <a:latin typeface="Microsoft YaHei"/>
                <a:ea typeface="Microsoft YaHei"/>
              </a:rPr>
              <a:t>478 点网格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2200" b="0">
                <a:solidFill>
                  <a:srgbClr val="C9A227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28616" y="2926080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31089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33649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ECECEE"/>
                </a:solidFill>
                <a:latin typeface="Microsoft YaHei"/>
                <a:ea typeface="Microsoft YaHei"/>
              </a:rPr>
              <a:t>采样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367588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9AA3"/>
                </a:solidFill>
                <a:latin typeface="Microsoft YaHei"/>
                <a:ea typeface="Microsoft YaHei"/>
              </a:rPr>
              <a:t>唇 / 颊 / 中心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2200" b="0">
                <a:solidFill>
                  <a:srgbClr val="C9A227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04304" y="2926080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31089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4" y="33649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ECECEE"/>
                </a:solidFill>
                <a:latin typeface="Microsoft YaHei"/>
                <a:ea typeface="Microsoft YaHei"/>
              </a:rPr>
              <a:t>色彩科学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4" y="367588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9AA3"/>
                </a:solidFill>
                <a:latin typeface="Microsoft YaHei"/>
                <a:ea typeface="Microsoft YaHei"/>
              </a:rPr>
              <a:t>CIELAB → ΔE / ITA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2200" b="0">
                <a:solidFill>
                  <a:srgbClr val="C9A227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9992" y="2926080"/>
            <a:ext cx="1783080" cy="1143000"/>
          </a:xfrm>
          <a:prstGeom prst="roundRect">
            <a:avLst>
              <a:gd name="adj" fmla="val 6000"/>
            </a:avLst>
          </a:prstGeom>
          <a:solidFill>
            <a:srgbClr val="101013"/>
          </a:solidFill>
          <a:ln w="9525">
            <a:solidFill>
              <a:srgbClr val="23232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31089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3364992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00" b="1">
                <a:solidFill>
                  <a:srgbClr val="ECECEE"/>
                </a:solidFill>
                <a:latin typeface="Microsoft YaHei"/>
                <a:ea typeface="Microsoft YaHei"/>
              </a:rPr>
              <a:t>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367588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>
                <a:solidFill>
                  <a:srgbClr val="9A9AA3"/>
                </a:solidFill>
                <a:latin typeface="Microsoft YaHei"/>
                <a:ea typeface="Microsoft YaHei"/>
              </a:rPr>
              <a:t>声化 + 语音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617720"/>
            <a:ext cx="1179576" cy="384048"/>
          </a:xfrm>
          <a:prstGeom prst="roundRect">
            <a:avLst>
              <a:gd name="adj" fmla="val 6000"/>
            </a:avLst>
          </a:prstGeom>
          <a:solidFill>
            <a:srgbClr val="141208"/>
          </a:solidFill>
          <a:ln w="9525">
            <a:solidFill>
              <a:srgbClr val="C9A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700016"/>
            <a:ext cx="1179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E8CF7A"/>
                </a:solidFill>
                <a:latin typeface="Microsoft YaHei"/>
                <a:ea typeface="Microsoft YaHei"/>
              </a:rPr>
              <a:t>全本地推理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76272" y="4617720"/>
            <a:ext cx="1179576" cy="384048"/>
          </a:xfrm>
          <a:prstGeom prst="roundRect">
            <a:avLst>
              <a:gd name="adj" fmla="val 6000"/>
            </a:avLst>
          </a:prstGeom>
          <a:solidFill>
            <a:srgbClr val="141208"/>
          </a:solidFill>
          <a:ln w="9525">
            <a:solidFill>
              <a:srgbClr val="C9A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76272" y="4700016"/>
            <a:ext cx="1179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E8CF7A"/>
                </a:solidFill>
                <a:latin typeface="Microsoft YaHei"/>
                <a:ea typeface="Microsoft YaHei"/>
              </a:rPr>
              <a:t>无画面上传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75304" y="4617720"/>
            <a:ext cx="1700784" cy="384048"/>
          </a:xfrm>
          <a:prstGeom prst="roundRect">
            <a:avLst>
              <a:gd name="adj" fmla="val 6000"/>
            </a:avLst>
          </a:prstGeom>
          <a:solidFill>
            <a:srgbClr val="141208"/>
          </a:solidFill>
          <a:ln w="9525">
            <a:solidFill>
              <a:srgbClr val="C9A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75304" y="470001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E8CF7A"/>
                </a:solidFill>
                <a:latin typeface="Microsoft YaHei"/>
                <a:ea typeface="Microsoft YaHei"/>
              </a:rPr>
              <a:t>无 GPU 依赖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95544" y="4617720"/>
            <a:ext cx="1874519" cy="384048"/>
          </a:xfrm>
          <a:prstGeom prst="roundRect">
            <a:avLst>
              <a:gd name="adj" fmla="val 6000"/>
            </a:avLst>
          </a:prstGeom>
          <a:solidFill>
            <a:srgbClr val="141208"/>
          </a:solidFill>
          <a:ln w="9525">
            <a:solidFill>
              <a:srgbClr val="C9A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95544" y="470001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E8CF7A"/>
                </a:solidFill>
                <a:latin typeface="Microsoft YaHei"/>
                <a:ea typeface="Microsoft YaHei"/>
              </a:rPr>
              <a:t>模型 3.6 MB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0">
                <a:solidFill>
                  <a:srgbClr val="9A9AA3"/>
                </a:solidFill>
                <a:latin typeface="Microsoft YaHei"/>
                <a:ea typeface="Microsoft YaHei"/>
              </a:rPr>
              <a:t>关键取舍：不训练模型，只做“翻译层”。因为赛题明确说明不需要微调 LLM，而真正的门槛在交互设计，不在算力。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ECECEE"/>
                </a:solidFill>
                <a:latin typeface="Microsoft YaHei"/>
                <a:ea typeface="Microsoft YaHei"/>
              </a:rPr>
              <a:t>实测结果：这些数字可以一条命令复现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内置示例人像，运行 app/_dev/check.mjs 即得下表。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82296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42032"/>
            <a:ext cx="10637215" cy="384048"/>
          </a:xfrm>
          <a:prstGeom prst="rect">
            <a:avLst/>
          </a:prstGeom>
          <a:solidFill>
            <a:srgbClr val="0D0D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3347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9A9AA3"/>
                </a:solidFill>
                <a:latin typeface="Microsoft YaHei"/>
                <a:ea typeface="Microsoft YaHei"/>
              </a:rPr>
              <a:t>人脸网格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63347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>
                <a:solidFill>
                  <a:srgbClr val="ECECEE"/>
                </a:solidFill>
                <a:latin typeface="Microsoft YaHei"/>
                <a:ea typeface="Microsoft YaHei"/>
              </a:rPr>
              <a:t>478 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6334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64646D"/>
                </a:solidFill>
                <a:latin typeface="Microsoft YaHei"/>
                <a:ea typeface="Microsoft YaHei"/>
              </a:rPr>
              <a:t>GPU 委托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9A9AA3"/>
                </a:solidFill>
                <a:latin typeface="Microsoft YaHei"/>
                <a:ea typeface="Microsoft YaHei"/>
              </a:rPr>
              <a:t>唇色识别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16382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>
                <a:solidFill>
                  <a:srgbClr val="ECECEE"/>
                </a:solidFill>
                <a:latin typeface="Microsoft YaHei"/>
                <a:ea typeface="Microsoft YaHei"/>
              </a:rPr>
              <a:t>复古红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1638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64646D"/>
                </a:solidFill>
                <a:latin typeface="Microsoft YaHei"/>
                <a:ea typeface="Microsoft YaHei"/>
              </a:rPr>
              <a:t>ΔE2000 = 6.4（明显接近）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602736"/>
            <a:ext cx="10637215" cy="384048"/>
          </a:xfrm>
          <a:prstGeom prst="rect">
            <a:avLst/>
          </a:prstGeom>
          <a:solidFill>
            <a:srgbClr val="0D0D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9417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9A9AA3"/>
                </a:solidFill>
                <a:latin typeface="Microsoft YaHei"/>
                <a:ea typeface="Microsoft YaHei"/>
              </a:rPr>
              <a:t>相近色号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69417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>
                <a:solidFill>
                  <a:srgbClr val="ECECEE"/>
                </a:solidFill>
                <a:latin typeface="Microsoft YaHei"/>
                <a:ea typeface="Microsoft YaHei"/>
              </a:rPr>
              <a:t>枫叶红 / 樱桃红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6941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64646D"/>
                </a:solidFill>
                <a:latin typeface="Microsoft YaHei"/>
                <a:ea typeface="Microsoft YaHei"/>
              </a:rPr>
              <a:t>ΔE 7.2 / 7.4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245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9A9AA3"/>
                </a:solidFill>
                <a:latin typeface="Microsoft YaHei"/>
                <a:ea typeface="Microsoft YaHei"/>
              </a:rPr>
              <a:t>肤色判定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224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>
                <a:solidFill>
                  <a:srgbClr val="ECECEE"/>
                </a:solidFill>
                <a:latin typeface="Microsoft YaHei"/>
                <a:ea typeface="Microsoft YaHei"/>
              </a:rPr>
              <a:t>ITA 65° · 暖调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22452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64646D"/>
                </a:solidFill>
                <a:latin typeface="Microsoft YaHei"/>
                <a:ea typeface="Microsoft YaHei"/>
              </a:rPr>
              <a:t>L* 71 · b*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663440"/>
            <a:ext cx="10637215" cy="384048"/>
          </a:xfrm>
          <a:prstGeom prst="rect">
            <a:avLst/>
          </a:prstGeom>
          <a:solidFill>
            <a:srgbClr val="0D0D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54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9A9AA3"/>
                </a:solidFill>
                <a:latin typeface="Microsoft YaHei"/>
                <a:ea typeface="Microsoft YaHei"/>
              </a:rPr>
              <a:t>模型体积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754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>
                <a:solidFill>
                  <a:srgbClr val="ECECEE"/>
                </a:solidFill>
                <a:latin typeface="Microsoft YaHei"/>
                <a:ea typeface="Microsoft YaHei"/>
              </a:rPr>
              <a:t>3.6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47548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64646D"/>
                </a:solidFill>
                <a:latin typeface="Microsoft YaHei"/>
                <a:ea typeface="Microsoft YaHei"/>
              </a:rPr>
              <a:t>含 WASM，离线可用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852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9A9AA3"/>
                </a:solidFill>
                <a:latin typeface="Microsoft YaHei"/>
                <a:ea typeface="Microsoft YaHei"/>
              </a:rPr>
              <a:t>控制台错误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2852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1">
                <a:solidFill>
                  <a:srgbClr val="ECECEE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8523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64646D"/>
                </a:solidFill>
                <a:latin typeface="Microsoft YaHei"/>
                <a:ea typeface="Microsoft YaHei"/>
              </a:rPr>
              <a:t>端到端自检通过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897880"/>
            <a:ext cx="109728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06247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>
                <a:solidFill>
                  <a:srgbClr val="E8CF7A"/>
                </a:solidFill>
                <a:latin typeface="Microsoft YaHei"/>
                <a:ea typeface="Microsoft YaHei"/>
              </a:rPr>
              <a:t>取色准确度（模拟偏色 + 镜面高光，13 支色卡）：色号命中率 31% → 92%，平均色差 6.67 → 3.46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ECECEE"/>
                </a:solidFill>
                <a:latin typeface="Microsoft YaHei"/>
                <a:ea typeface="Microsoft YaHei"/>
              </a:rPr>
              <a:t>可行性：一台普通笔记本就够，不需要采购任何云资源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这也是我们能绕开平台依赖、独立完成作品的根本原因。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82296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Microsoft YaHei"/>
                <a:ea typeface="Microsoft YaHei"/>
              </a:rPr>
              <a:t>离线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1">
                <a:solidFill>
                  <a:srgbClr val="ECECEE"/>
                </a:solidFill>
                <a:latin typeface="Microsoft YaHei"/>
                <a:ea typeface="Microsoft YaHei"/>
              </a:rPr>
              <a:t>断网可用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10712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9A9AA3"/>
                </a:solidFill>
                <a:latin typeface="Microsoft YaHei"/>
                <a:ea typeface="Microsoft YaHei"/>
              </a:rPr>
              <a:t>模型与 WASM 全部本地，展会现场无网也能演示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69748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Microsoft YaHei"/>
                <a:ea typeface="Microsoft YaHei"/>
              </a:rPr>
              <a:t>零算力成本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99008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1">
                <a:solidFill>
                  <a:srgbClr val="ECECEE"/>
                </a:solidFill>
                <a:latin typeface="Microsoft YaHei"/>
                <a:ea typeface="Microsoft YaHei"/>
              </a:rPr>
              <a:t>CPU 可跑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410712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9A9AA3"/>
                </a:solidFill>
                <a:latin typeface="Microsoft YaHei"/>
                <a:ea typeface="Microsoft YaHei"/>
              </a:rPr>
              <a:t>11 fps @ CPU，无需 GPU、无需实例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8912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Microsoft YaHei"/>
                <a:ea typeface="Microsoft YaHei"/>
              </a:rPr>
              <a:t>隐私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817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1">
                <a:solidFill>
                  <a:srgbClr val="ECECEE"/>
                </a:solidFill>
                <a:latin typeface="Microsoft YaHei"/>
                <a:ea typeface="Microsoft YaHei"/>
              </a:rPr>
              <a:t>画面不出设备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02352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9A9AA3"/>
                </a:solidFill>
                <a:latin typeface="Microsoft YaHei"/>
                <a:ea typeface="Microsoft YaHei"/>
              </a:rPr>
              <a:t>本地推理，适合无障碍与未成年人场景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38912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C9A227"/>
                </a:solidFill>
                <a:latin typeface="Microsoft YaHei"/>
                <a:ea typeface="Microsoft YaHei"/>
              </a:rPr>
              <a:t>低成本复制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681728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1">
                <a:solidFill>
                  <a:srgbClr val="ECECEE"/>
                </a:solidFill>
                <a:latin typeface="Microsoft YaHei"/>
                <a:ea typeface="Microsoft YaHei"/>
              </a:rPr>
              <a:t>一个浏览器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102352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9A9AA3"/>
                </a:solidFill>
                <a:latin typeface="Microsoft YaHei"/>
                <a:ea typeface="Microsoft YaHei"/>
              </a:rPr>
              <a:t>专柜平板、手机、智慧屏都能直接部署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ECECEE"/>
                </a:solidFill>
                <a:latin typeface="Microsoft YaHei"/>
                <a:ea typeface="Microsoft YaHei"/>
              </a:rPr>
              <a:t>对欧莱雅意味着什么：不是公益成本，是新的用户入口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把 1700 万人第一次真正纳入美妆消费，这件事只有品牌方做得到。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82296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专柜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651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1">
                <a:solidFill>
                  <a:srgbClr val="ECECEE"/>
                </a:solidFill>
                <a:latin typeface="Microsoft YaHei"/>
                <a:ea typeface="Microsoft YaHei"/>
              </a:rPr>
              <a:t>无障碍试色台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308152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一台平板 + 一盏补光灯，让视障顾客独立完成选色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6974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电商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6517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1">
                <a:solidFill>
                  <a:srgbClr val="ECECEE"/>
                </a:solidFill>
                <a:latin typeface="Microsoft YaHei"/>
                <a:ea typeface="Microsoft YaHei"/>
              </a:rPr>
              <a:t>色号语音详情页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08152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把“正红/豆沙”变成可听的样本，降低退货率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公益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42519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1">
                <a:solidFill>
                  <a:srgbClr val="ECECEE"/>
                </a:solidFill>
                <a:latin typeface="Microsoft YaHei"/>
                <a:ea typeface="Microsoft YaHei"/>
              </a:rPr>
              <a:t>与盲协共创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468172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用户共创、开源工具包，形成可传播的品牌资产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976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ESG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2519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1">
                <a:solidFill>
                  <a:srgbClr val="ECECEE"/>
                </a:solidFill>
                <a:latin typeface="Microsoft YaHei"/>
                <a:ea typeface="Microsoft YaHei"/>
              </a:rPr>
              <a:t>包容性可量化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68172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首次把“无障碍美妆”写进年度报告的指标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760720"/>
            <a:ext cx="109728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E8CF7A"/>
                </a:solidFill>
                <a:latin typeface="Microsoft YaHei"/>
                <a:ea typeface="Microsoft YaHei"/>
              </a:rPr>
              <a:t>先做对的事，再做大的生意。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1288" y="3840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LIGHTUP 光引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384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ECECEE"/>
                </a:solidFill>
                <a:latin typeface="Microsoft YaHei"/>
                <a:ea typeface="Microsoft YaHei"/>
              </a:rPr>
              <a:t>路线图：从可运行原型，到门店里的一台机器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A9AA3"/>
                </a:solidFill>
                <a:latin typeface="Microsoft YaHei"/>
                <a:ea typeface="Microsoft YaHei"/>
              </a:rPr>
              <a:t>每一步都有可验证的交付物，不是空泛的规划。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82296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3675887"/>
            <a:ext cx="7635240" cy="18288"/>
          </a:xfrm>
          <a:prstGeom prst="rect">
            <a:avLst/>
          </a:prstGeom>
          <a:solidFill>
            <a:srgbClr val="23232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3593592"/>
            <a:ext cx="164592" cy="164592"/>
          </a:xfrm>
          <a:prstGeom prst="ellipse">
            <a:avLst/>
          </a:prstGeom>
          <a:solidFill>
            <a:srgbClr val="C9A227"/>
          </a:solidFill>
          <a:ln w="15240">
            <a:solidFill>
              <a:srgbClr val="C9A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C9A227"/>
                </a:solidFill>
                <a:latin typeface="Microsoft YaHei"/>
                <a:ea typeface="Microsoft YaHei"/>
              </a:rPr>
              <a:t>初赛 · 已完成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502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1">
                <a:solidFill>
                  <a:srgbClr val="ECECEE"/>
                </a:solidFill>
                <a:latin typeface="Microsoft YaHei"/>
                <a:ea typeface="Microsoft YaHei"/>
              </a:rPr>
              <a:t>可运行原型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07408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三个模式 + 声化引擎 + 无障碍 UI，代码可复现</a:t>
            </a:r>
          </a:p>
        </p:txBody>
      </p:sp>
      <p:sp>
        <p:nvSpPr>
          <p:cNvPr id="13" name="Oval 12"/>
          <p:cNvSpPr/>
          <p:nvPr/>
        </p:nvSpPr>
        <p:spPr>
          <a:xfrm>
            <a:off x="4718304" y="3593592"/>
            <a:ext cx="164592" cy="164592"/>
          </a:xfrm>
          <a:prstGeom prst="ellipse">
            <a:avLst/>
          </a:prstGeom>
          <a:solidFill>
            <a:srgbClr val="08080A"/>
          </a:solidFill>
          <a:ln w="15240">
            <a:solidFill>
              <a:srgbClr val="C9A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0632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决赛 · 进行中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9502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1">
                <a:solidFill>
                  <a:srgbClr val="ECECEE"/>
                </a:solidFill>
                <a:latin typeface="Microsoft YaHei"/>
                <a:ea typeface="Microsoft YaHei"/>
              </a:rPr>
              <a:t>硬件形态与成分解读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407408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智能镜形态、触觉反馈编码、成分表 OCR</a:t>
            </a:r>
          </a:p>
        </p:txBody>
      </p:sp>
      <p:sp>
        <p:nvSpPr>
          <p:cNvPr id="17" name="Oval 16"/>
          <p:cNvSpPr/>
          <p:nvPr/>
        </p:nvSpPr>
        <p:spPr>
          <a:xfrm>
            <a:off x="8558784" y="3593592"/>
            <a:ext cx="164592" cy="164592"/>
          </a:xfrm>
          <a:prstGeom prst="ellipse">
            <a:avLst/>
          </a:prstGeom>
          <a:solidFill>
            <a:srgbClr val="08080A"/>
          </a:solidFill>
          <a:ln w="15240">
            <a:solidFill>
              <a:srgbClr val="C9A2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0632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试点 · 6 个月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9502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1">
                <a:solidFill>
                  <a:srgbClr val="ECECEE"/>
                </a:solidFill>
                <a:latin typeface="Microsoft YaHei"/>
                <a:ea typeface="Microsoft YaHei"/>
              </a:rPr>
              <a:t>1 家门店 · 100 位用户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407408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950" b="0">
                <a:solidFill>
                  <a:srgbClr val="9A9AA3"/>
                </a:solidFill>
                <a:latin typeface="Microsoft YaHei"/>
                <a:ea typeface="Microsoft YaHei"/>
              </a:rPr>
              <a:t>与盲协共创测试，形成可用性报告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504688"/>
            <a:ext cx="1097280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8756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00" b="0">
                <a:solidFill>
                  <a:srgbClr val="E8CF7A"/>
                </a:solidFill>
                <a:latin typeface="Microsoft YaHei"/>
                <a:ea typeface="Microsoft YaHei"/>
              </a:rPr>
              <a:t>初赛已交付：可运行 Demo（含离线部署）· 本提案 · 90 秒演示视频。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011680"/>
            <a:ext cx="82296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5600" b="1">
                <a:solidFill>
                  <a:srgbClr val="ECECEE"/>
                </a:solidFill>
                <a:latin typeface="Microsoft YaHei"/>
                <a:ea typeface="Microsoft YaHei"/>
              </a:rPr>
              <a:t>让美，不依赖眼睛。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1188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>
                <a:solidFill>
                  <a:srgbClr val="E8CF7A"/>
                </a:solidFill>
                <a:latin typeface="Microsoft YaHei"/>
                <a:ea typeface="Microsoft YaHei"/>
              </a:rPr>
              <a:t>LightUp 光引 · 无障碍美妆决策助手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805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00" b="0">
                <a:solidFill>
                  <a:srgbClr val="9A9AA3"/>
                </a:solidFill>
                <a:latin typeface="Microsoft YaHei"/>
                <a:ea typeface="Microsoft YaHei"/>
              </a:rPr>
              <a:t>我们做的不是一款无障碍 App，</a:t>
            </a:r>
          </a:p>
          <a:p>
            <a:pPr algn="l">
              <a:lnSpc>
                <a:spcPct val="170000"/>
              </a:lnSpc>
              <a:spcAft>
                <a:spcPts val="0"/>
              </a:spcAft>
            </a:pPr>
            <a:r>
              <a:rPr sz="1200" b="0">
                <a:solidFill>
                  <a:srgbClr val="9A9AA3"/>
                </a:solidFill>
                <a:latin typeface="Microsoft YaHei"/>
                <a:ea typeface="Microsoft YaHei"/>
              </a:rPr>
              <a:t>而是一套让“颜色”可以被听见、被记住、被复述的翻译标准。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35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64646D"/>
                </a:solidFill>
                <a:latin typeface="Microsoft YaHei"/>
                <a:ea typeface="Microsoft YaHei"/>
              </a:rPr>
              <a:t>仓库与可运行 Demo 随作品一并提交，欢迎现场体验。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