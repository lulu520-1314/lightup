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28"/>
          <p:cNvSpPr/>
          <p:nvPr/>
        </p:nvSpPr>
        <p:spPr>
          <a:xfrm>
            <a:off x="1436862" y="4048271"/>
            <a:ext cx="8500425" cy="11914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500" dirty="0" b="0">
                <a:solidFill>
                  <a:srgbClr val="FFFFFF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面向视障人群的无障碍美妆助手：把口红色号翻译成声音与语言。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300" dirty="0" b="0">
                <a:solidFill>
                  <a:srgbClr val="EFE2F7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在线体验：lulu520-1314.github.io/lightup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听见颜色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 defTabSz="967740">
              <a:lnSpc>
                <a:spcPct val="120000"/>
              </a:lnSpc>
            </a:pPr>
            <a:r>
              <a:rPr lang="zh-CN" altLang="en-US" sz="2000" b="0" dirty="0">
                <a:solidFill>
                  <a:srgbClr val="FFFFFF"/>
                </a:solidFill>
                <a:latin typeface="思源黑体 CN Light" panose="020B0800000000000000" charset="-122"/>
                <a:ea typeface="思源黑体 CN Light" panose="020B0800000000000000" charset="-122"/>
                <a:sym typeface="+mn-ea"/>
              </a:rPr>
              <a:t>LightUp 光引 · 无界体验家（主题二）· 队伍：__________</a:t>
            </a:r>
            <a:endParaRPr lang="en-US" altLang="zh-CN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2"/>
          <p:cNvSpPr txBox="1"/>
          <p:nvPr/>
        </p:nvSpPr>
        <p:spPr>
          <a:xfrm>
            <a:off x="832060" y="826166"/>
            <a:ext cx="3507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3F3F3F">
                    <a:lumMod val="75000"/>
                  </a:srgbClr>
                </a:solidFill>
                <a:latin typeface="思源黑体 CN Bold" panose="020B0800000000000000" charset="-122"/>
                <a:ea typeface="思源黑体 CN Bold" panose="020B0800000000000000" charset="-122"/>
                <a:sym typeface="+mn-ea"/>
              </a:rPr>
              <a:t>内容页</a:t>
            </a:r>
            <a:endParaRPr lang="zh-CN" altLang="en-US" sz="4400" b="1" dirty="0">
              <a:solidFill>
                <a:srgbClr val="3F3F3F">
                  <a:lumMod val="75000"/>
                </a:srgbClr>
              </a:solidFill>
              <a:effectLst>
                <a:outerShdw blurRad="381000" algn="ctr" rotWithShape="0">
                  <a:prstClr val="black">
                    <a:alpha val="25000"/>
                  </a:prstClr>
                </a:outerShdw>
              </a:effectLst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  <p:sp>
        <p:nvSpPr>
          <p:cNvPr id="6" name="矩形 3"/>
          <p:cNvSpPr/>
          <p:nvPr/>
        </p:nvSpPr>
        <p:spPr>
          <a:xfrm>
            <a:off x="912683" y="1976422"/>
            <a:ext cx="6910418" cy="330837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内容需包含作品背景、技术实现方式、作品使用场景、未来完善方向四大板块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若有其他板块可酌情呈现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/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44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让美，不依赖眼睛。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  <a:p>
            <a:pPr algn="ctr">
              <a:lnSpc>
                <a:spcPct val="160000"/>
              </a:lnSpc>
            </a:pPr>
            <a:r>
              <a:rPr sz="1600" b="0">
                <a:solidFill>
                  <a:srgbClr val="F2E6FA"/>
                </a:solidFill>
                <a:latin typeface="思源黑体 CN Light"/>
                <a:ea typeface="思源黑体 CN Light"/>
              </a:rPr>
              <a:t>LightUp 光引 · 在线体验 lulu520-1314.github.io/lightup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5151" y="4434840"/>
            <a:ext cx="1005840" cy="1005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125151" y="4434840"/>
            <a:ext cx="1005840" cy="100584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42271" y="55321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F2E6FA"/>
                </a:solidFill>
                <a:latin typeface="思源黑体 CN Light"/>
                <a:ea typeface="思源黑体 CN Light"/>
              </a:rPr>
              <a:t>扫码在线体验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她们买口红时，是在赌一个看不见的答案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美妆是社交与就业的“隐形门槛”，而这道门槛对视障人群几乎不可跨越。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938528"/>
            <a:ext cx="3200400" cy="1874519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1396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地域局限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小镇没有专柜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92608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试色只能靠网购盲猜，买错就闲置。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938528"/>
            <a:ext cx="3200400" cy="1874519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1396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认知局限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长辈看不懂成分表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92608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6B6B76"/>
                </a:solidFill>
                <a:latin typeface="思源黑体 CN Light"/>
                <a:ea typeface="思源黑体 CN Light"/>
              </a:rPr>
              <a:t>“烟酰胺”“视黄醇”像天书，不敢用。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938528"/>
            <a:ext cx="3200400" cy="1874519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1396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感官局限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468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分不清口红色号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1" y="292608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>
                <a:solidFill>
                  <a:srgbClr val="6B6B76"/>
                </a:solidFill>
                <a:latin typeface="思源黑体 CN Light"/>
                <a:ea typeface="思源黑体 CN Light"/>
              </a:rPr>
              <a:t>“正红”和“豆沙”在她们那里是同一个词。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422452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中国视力残疾人群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553712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400" b="1">
                <a:solidFill>
                  <a:srgbClr val="7C1CA6"/>
                </a:solidFill>
                <a:latin typeface="思源黑体 CN Bold"/>
                <a:ea typeface="思源黑体 CN Bold"/>
              </a:rPr>
              <a:t>1700万+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9624" y="46817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1F1F24"/>
                </a:solidFill>
                <a:latin typeface="思源黑体 CN Light"/>
                <a:ea typeface="思源黑体 CN Light"/>
              </a:rPr>
              <a:t>其中女性约占一半，正是美妆的核心用户。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534924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数据口径：中国残联 / 世界卫生组织公开资料整理；用于说明需求规模，非精确统计。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02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组件都成熟，场景是空的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我们检索了开源社区：技术不是瓶颈，缺的是“把它翻译成她们能用的形式”。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400" b="1">
                <a:solidFill>
                  <a:srgbClr val="7C1CA6"/>
                </a:solidFill>
                <a:latin typeface="思源黑体 CN Bold"/>
                <a:ea typeface="思源黑体 CN 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8986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视障 × 美妆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3264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几乎没有开源项目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400" b="1">
                <a:solidFill>
                  <a:srgbClr val="7C1CA6"/>
                </a:solidFill>
                <a:latin typeface="思源黑体 CN Bold"/>
                <a:ea typeface="思源黑体 CN Bold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3672" y="28986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成分识别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3264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组件成熟，可直接用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400" b="1">
                <a:solidFill>
                  <a:srgbClr val="7C1CA6"/>
                </a:solidFill>
                <a:latin typeface="思源黑体 CN Bold"/>
                <a:ea typeface="思源黑体 CN 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8986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声音化无障碍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264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范式成熟，可直接借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" y="4315968"/>
            <a:ext cx="10515600" cy="10972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452628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1F1F24"/>
                </a:solidFill>
                <a:latin typeface="思源黑体 CN Light"/>
                <a:ea typeface="思源黑体 CN Light"/>
              </a:rPr>
              <a:t>结论：把视觉、色差、声化这些现成能力接起来，只补“美妆语境下的翻译层”，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1F1F24"/>
                </a:solidFill>
                <a:latin typeface="思源黑体 CN Light"/>
                <a:ea typeface="思源黑体 CN Light"/>
              </a:rPr>
              <a:t>就能做出别人没做过的东西——门槛在体验设计，不在算力。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03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核心创意：把颜色翻译成一段可记忆的旋律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现有 AI 都在“描述世界”，视障者需要的却是“能记住、能复述”的判断依据。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801367"/>
            <a:ext cx="10515600" cy="475488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92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7C1CA6"/>
                </a:solidFill>
                <a:latin typeface="思源黑体 CN Bold"/>
                <a:ea typeface="思源黑体 CN Bold"/>
              </a:rPr>
              <a:t>色相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6544" y="1892807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F1F24"/>
                </a:solidFill>
                <a:latin typeface="思源黑体 CN Light"/>
                <a:ea typeface="思源黑体 CN Light"/>
              </a:rPr>
              <a:t>五声音阶 · 两个八度（10 个音位）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92807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任何颜色都有唯一音高位置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40487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7C1CA6"/>
                </a:solidFill>
                <a:latin typeface="思源黑体 CN Bold"/>
                <a:ea typeface="思源黑体 CN Bold"/>
              </a:rPr>
              <a:t>冷暖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4048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F1F24"/>
                </a:solidFill>
                <a:latin typeface="思源黑体 CN Light"/>
                <a:ea typeface="思源黑体 CN Light"/>
              </a:rPr>
              <a:t>大三和弦 / 小三和弦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404872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听一秒就知道偏橘还是偏莓果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825496"/>
            <a:ext cx="10515600" cy="475488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16936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7C1CA6"/>
                </a:solidFill>
                <a:latin typeface="思源黑体 CN Bold"/>
                <a:ea typeface="思源黑体 CN Bold"/>
              </a:rPr>
              <a:t>明度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4" y="2916936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F1F24"/>
                </a:solidFill>
                <a:latin typeface="思源黑体 CN Light"/>
                <a:ea typeface="思源黑体 CN Light"/>
              </a:rPr>
              <a:t>音量 + 八度微调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16936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深色沉、浅色亮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42900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7C1CA6"/>
                </a:solidFill>
                <a:latin typeface="思源黑体 CN Bold"/>
                <a:ea typeface="思源黑体 CN Bold"/>
              </a:rPr>
              <a:t>饱和度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4" y="342900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1F1F24"/>
                </a:solidFill>
                <a:latin typeface="思源黑体 CN Light"/>
                <a:ea typeface="思源黑体 CN Light"/>
              </a:rPr>
              <a:t>正弦 → 三角 → 锯齿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342900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越艳，泛音越亮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4526280"/>
            <a:ext cx="932688" cy="237744"/>
          </a:xfrm>
          <a:prstGeom prst="rect">
            <a:avLst/>
          </a:prstGeom>
          <a:solidFill>
            <a:srgbClr val="EA41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7088" y="4526280"/>
            <a:ext cx="932688" cy="237744"/>
          </a:xfrm>
          <a:prstGeom prst="rect">
            <a:avLst/>
          </a:prstGeom>
          <a:solidFill>
            <a:srgbClr val="EAA7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7088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62072" y="4526280"/>
            <a:ext cx="932688" cy="237744"/>
          </a:xfrm>
          <a:prstGeom prst="rect">
            <a:avLst/>
          </a:prstGeom>
          <a:solidFill>
            <a:srgbClr val="C8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4526280"/>
            <a:ext cx="932688" cy="237744"/>
          </a:xfrm>
          <a:prstGeom prst="rect">
            <a:avLst/>
          </a:prstGeom>
          <a:solidFill>
            <a:srgbClr val="63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77056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4526280"/>
            <a:ext cx="932688" cy="237744"/>
          </a:xfrm>
          <a:prstGeom prst="rect">
            <a:avLst/>
          </a:prstGeom>
          <a:solidFill>
            <a:srgbClr val="41EA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7024" y="4526280"/>
            <a:ext cx="932688" cy="237744"/>
          </a:xfrm>
          <a:prstGeom prst="rect">
            <a:avLst/>
          </a:prstGeom>
          <a:solidFill>
            <a:srgbClr val="41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07024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2008" y="4526280"/>
            <a:ext cx="932688" cy="237744"/>
          </a:xfrm>
          <a:prstGeom prst="rect">
            <a:avLst/>
          </a:prstGeom>
          <a:solidFill>
            <a:srgbClr val="4185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22008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992" y="4526280"/>
            <a:ext cx="932688" cy="237744"/>
          </a:xfrm>
          <a:prstGeom prst="rect">
            <a:avLst/>
          </a:prstGeom>
          <a:solidFill>
            <a:srgbClr val="63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1976" y="4526280"/>
            <a:ext cx="932688" cy="237744"/>
          </a:xfrm>
          <a:prstGeom prst="rect">
            <a:avLst/>
          </a:prstGeom>
          <a:solidFill>
            <a:srgbClr val="C8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1976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4526280"/>
            <a:ext cx="932688" cy="237744"/>
          </a:xfrm>
          <a:prstGeom prst="rect">
            <a:avLst/>
          </a:prstGeom>
          <a:solidFill>
            <a:srgbClr val="EA41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60" y="48006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513892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360° 色相被切成 10 个音位，每个音位对应一段固定旋律——颜色从此可以被“背下来”。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59612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7C1CA6"/>
                </a:solidFill>
                <a:latin typeface="思源黑体 CN Bold"/>
                <a:ea typeface="思源黑体 CN Bold"/>
              </a:rPr>
              <a:t>不是“把颜色说出来”，而是“让颜色被记住”。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04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四个模块，覆盖“选色 → 试色 → 验妆”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全部在浏览器本地运行，不需要联网、不需要 GPU。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984248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19456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05456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1F1F24"/>
                </a:solidFill>
                <a:latin typeface="思源黑体 CN Bold"/>
                <a:ea typeface="思源黑体 CN Bold"/>
              </a:rPr>
              <a:t>读色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944368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点哪读哪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328416"/>
            <a:ext cx="21579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色号 · 冷暖 · 相近色 · 旋律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984248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19456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505456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1F1F24"/>
                </a:solidFill>
                <a:latin typeface="思源黑体 CN Bold"/>
                <a:ea typeface="思源黑体 CN Bold"/>
              </a:rPr>
              <a:t>诊肤色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944368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两颊 + 额头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3328416"/>
            <a:ext cx="21579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肤色深浅 · 冷暖 · 3 支推荐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984248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19456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505456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1F1F24"/>
                </a:solidFill>
                <a:latin typeface="思源黑体 CN Bold"/>
                <a:ea typeface="思源黑体 CN Bold"/>
              </a:rPr>
              <a:t>查妆容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944368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涂完再测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328416"/>
            <a:ext cx="21579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与目标色的偏差 · 补涂建议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1984248"/>
            <a:ext cx="2487168" cy="228600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19" y="2194560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505456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1">
                <a:solidFill>
                  <a:srgbClr val="1F1F24"/>
                </a:solidFill>
                <a:latin typeface="思源黑体 CN Bold"/>
                <a:ea typeface="思源黑体 CN Bold"/>
              </a:rPr>
              <a:t>试色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19" y="2944368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选一支色号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3328416"/>
            <a:ext cx="21579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直接涂在唇形上，可快速换色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50749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配套无障碍设计：纯键盘可操作 · 语音与字幕双通道 · 大字 / 高对比 · 焦点不丢。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05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核心功能演示：它读出了「复古红」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以下均为真实运行截图，非渲染图。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read.png"/>
          <p:cNvPicPr>
            <a:picLocks noChangeAspect="1"/>
          </p:cNvPicPr>
          <p:nvPr/>
        </p:nvPicPr>
        <p:blipFill>
          <a:blip r:embed="rId2"/>
          <a:srcRect l="10074" r="10074"/>
          <a:stretch>
            <a:fillRect/>
          </a:stretch>
        </p:blipFill>
        <p:spPr>
          <a:xfrm>
            <a:off x="832104" y="1847088"/>
            <a:ext cx="3310128" cy="2331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847088"/>
            <a:ext cx="3310128" cy="23317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427939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读色：偏差 6.4，判定“明显接近”</a:t>
            </a:r>
          </a:p>
        </p:txBody>
      </p:sp>
      <p:pic>
        <p:nvPicPr>
          <p:cNvPr id="8" name="Picture 7" descr="11-check.png"/>
          <p:cNvPicPr>
            <a:picLocks noChangeAspect="1"/>
          </p:cNvPicPr>
          <p:nvPr/>
        </p:nvPicPr>
        <p:blipFill>
          <a:blip r:embed="rId3"/>
          <a:srcRect l="10074" r="10074"/>
          <a:stretch>
            <a:fillRect/>
          </a:stretch>
        </p:blipFill>
        <p:spPr>
          <a:xfrm>
            <a:off x="4325112" y="1847088"/>
            <a:ext cx="3310128" cy="2331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25112" y="1847088"/>
            <a:ext cx="3310128" cy="23317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427939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查妆容：记住目标色后比对偏差</a:t>
            </a:r>
          </a:p>
        </p:txBody>
      </p:sp>
      <p:pic>
        <p:nvPicPr>
          <p:cNvPr id="11" name="Picture 10" descr="82-skin-enriched.png"/>
          <p:cNvPicPr>
            <a:picLocks noChangeAspect="1"/>
          </p:cNvPicPr>
          <p:nvPr/>
        </p:nvPicPr>
        <p:blipFill>
          <a:blip r:embed="rId4"/>
          <a:srcRect l="10074" r="10074"/>
          <a:stretch>
            <a:fillRect/>
          </a:stretch>
        </p:blipFill>
        <p:spPr>
          <a:xfrm>
            <a:off x="7818119" y="1847088"/>
            <a:ext cx="3310128" cy="23317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19" y="1847088"/>
            <a:ext cx="3310128" cy="23317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19" y="427939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诊肤色：深浅 + 冷暖 + 3 支推荐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" y="4956048"/>
            <a:ext cx="10515600" cy="10972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513892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1F1F24"/>
                </a:solidFill>
                <a:latin typeface="思源黑体 CN Light"/>
                <a:ea typeface="思源黑体 CN Light"/>
              </a:rPr>
              <a:t>同一段真实操作：读出「复古红」→ 记住它 → 涂完后自检偏差 6.4。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1F1F24"/>
                </a:solidFill>
                <a:latin typeface="思源黑体 CN Light"/>
                <a:ea typeface="思源黑体 CN Light"/>
              </a:rPr>
              <a:t>每一步都有声音与文字双通道，闭眼也能完成。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06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技术实现：一条本地流水线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模型 3.6 MB，随页面下载，断网可用；画面不出设备。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984248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157984"/>
            <a:ext cx="1600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241401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27432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摄像头 / 图片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241401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1984248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157984"/>
            <a:ext cx="1600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41401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7432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478 点人脸网格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41401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984248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157984"/>
            <a:ext cx="1600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1401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7432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唇 / 颊 / 中心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7" y="241401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1984248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7" y="2157984"/>
            <a:ext cx="1600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241401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色彩科学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7" y="27432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CIELAB · ΔE · ITA°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41401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5" y="1984248"/>
            <a:ext cx="1874519" cy="11887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3495" y="2157984"/>
            <a:ext cx="1600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3495" y="2414016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3495" y="27432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声化 + 语音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" y="4224528"/>
            <a:ext cx="1325880" cy="38404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4297680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全本地推理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59152" y="4224528"/>
            <a:ext cx="1325880" cy="38404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9152" y="4297680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无画面上传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6200" y="4224528"/>
            <a:ext cx="1847088" cy="38404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4297680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无 GPU 依赖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34456" y="4224528"/>
            <a:ext cx="2020824" cy="38404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34456" y="4297680"/>
            <a:ext cx="2020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1CA6"/>
                </a:solidFill>
                <a:latin typeface="思源黑体 CN Light"/>
                <a:ea typeface="思源黑体 CN Light"/>
              </a:rPr>
              <a:t>模型 3.6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" y="48920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1F1F24"/>
                </a:solidFill>
                <a:latin typeface="思源黑体 CN Light"/>
                <a:ea typeface="思源黑体 CN Light"/>
              </a:rPr>
              <a:t>关键取舍：不训练模型，只做“翻译层”。赛题明确不需要微调 LLM，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1F1F24"/>
                </a:solidFill>
                <a:latin typeface="思源黑体 CN Light"/>
                <a:ea typeface="思源黑体 CN Light"/>
              </a:rPr>
              <a:t>真正的门槛在交互设计，不在算力。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07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可行性：一台普通笔记本就够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这也是我们能绕开平台依赖、独立完成作品的原因。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984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离线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76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断网可用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15768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模型与 WASM 全部本地，展会现场无网也能演示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984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零算力成本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784" y="2276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CPU 可跑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2715768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无需 GPU、无需云实例，浏览器即可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758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隐私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9684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画面不出设备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407407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本地推理，适合无障碍与个人场景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67588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低成本复制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39684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1">
                <a:solidFill>
                  <a:srgbClr val="1F1F24"/>
                </a:solidFill>
                <a:latin typeface="思源黑体 CN Bold"/>
                <a:ea typeface="思源黑体 CN Bold"/>
              </a:rPr>
              <a:t>一个浏览器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4407407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专柜平板、手机、智慧屏都能部署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08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实测结果：这些数字可以复现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运行仓库里的自检脚本，即可得到下表。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801367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人脸网格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892807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478 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44" y="1892807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GPU 委托，浏览器内推理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唇色识别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24048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复古红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ΔE2000 = 6.4（明显接近）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825496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肤色判定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916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ITA 66° · 暖调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三点中位采样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取色准确度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429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31% → 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模拟偏色 + 高光，13 支色卡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3849624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模型体积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941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3.6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含 WASM，离线可用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控制台错误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4531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1F1F24"/>
                </a:solidFill>
                <a:latin typeface="思源黑体 CN Bold"/>
                <a:ea typeface="思源黑体 CN Bol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端到端自检通过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09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用在哪：三个能被看见的场景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赛题提到的三类落地形态，我们都做了可演示的最小版本。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98424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7C1CA6"/>
                </a:solidFill>
                <a:latin typeface="思源黑体 CN Bold"/>
                <a:ea typeface="思源黑体 CN Bold"/>
              </a:rPr>
              <a:t>家庭梳妆台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0984" y="19842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智能化妆镜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7064" y="19842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镜前语音引导上妆，化完自检是否出界；家人不在也能独立完成。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30358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7C1CA6"/>
                </a:solidFill>
                <a:latin typeface="思源黑体 CN Bold"/>
                <a:ea typeface="思源黑体 CN Bold"/>
              </a:rPr>
              <a:t>商场专柜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0984" y="303580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无障碍试色台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303580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一台平板 + 一盏补光灯，视障顾客自己选色，柜姐只做补充。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408736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7C1CA6"/>
                </a:solidFill>
                <a:latin typeface="思源黑体 CN Bold"/>
                <a:ea typeface="思源黑体 CN Bold"/>
              </a:rPr>
              <a:t>随身携带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0984" y="408736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出行美妆小助手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408736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手机打开网页即可：色卡库听一遍、出门前查一次妆。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10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31520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未来规划：从可运行原型，到门店里的一台机器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316736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每一步都有可验证的交付物。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37360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9264" y="3246120"/>
            <a:ext cx="8412480" cy="18288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3163824"/>
            <a:ext cx="164592" cy="164592"/>
          </a:xfrm>
          <a:prstGeom prst="ellipse">
            <a:avLst/>
          </a:prstGeom>
          <a:solidFill>
            <a:srgbClr val="7C1CA6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6060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初赛 · 已完成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可运行原型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93192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四模块 + 色卡库 + 离线问答，代码开源可复现</a:t>
            </a:r>
          </a:p>
        </p:txBody>
      </p:sp>
      <p:sp>
        <p:nvSpPr>
          <p:cNvPr id="10" name="Oval 9"/>
          <p:cNvSpPr/>
          <p:nvPr/>
        </p:nvSpPr>
        <p:spPr>
          <a:xfrm>
            <a:off x="5093208" y="316382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26060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决赛 · 进行中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硬件形态与成分解读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9784" y="393192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智能镜形态、触觉反馈编码、成分表 OCR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8" y="316382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6024" y="26060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试点 · 6 个月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6024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1F1F24"/>
                </a:solidFill>
                <a:latin typeface="思源黑体 CN Bold"/>
                <a:ea typeface="思源黑体 CN Bold"/>
              </a:rPr>
              <a:t>1 家门店 · 100 位用户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6024" y="393192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与盲协共创测试，形成可用性报告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5191" y="768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11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