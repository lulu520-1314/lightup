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490" r:id="rId3"/>
    <p:sldId id="493" r:id="rId11"/>
    <p:sldId id="494" r:id="rId12"/>
    <p:sldId id="495" r:id="rId13"/>
    <p:sldId id="496" r:id="rId14"/>
    <p:sldId id="497" r:id="rId15"/>
    <p:sldId id="498" r:id="rId16"/>
    <p:sldId id="499" r:id="rId17"/>
    <p:sldId id="500" r:id="rId18"/>
    <p:sldId id="501" r:id="rId19"/>
    <p:sldId id="502" r:id="rId20"/>
    <p:sldId id="49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7B8ABB3-3CD8-462B-964A-90C88F22725C}">
          <p14:sldIdLst>
            <p14:sldId id="490"/>
            <p14:sldId id="492"/>
            <p14:sldId id="491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B8D876-CF7A-FFDC-74D7-6CE3805B12FB}" name="ZONG Echo" initials="EZ" userId="S::echo2.zong@loreal.com::a4606cd9-98cc-4fff-8532-d79a801fde2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45FD"/>
    <a:srgbClr val="655EEB"/>
    <a:srgbClr val="6160EA"/>
    <a:srgbClr val="4C28E4"/>
    <a:srgbClr val="AEAAF2"/>
    <a:srgbClr val="C99AFE"/>
    <a:srgbClr val="B5A5F6"/>
    <a:srgbClr val="C79BFE"/>
    <a:srgbClr val="81AEEB"/>
    <a:srgbClr val="82A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1" autoAdjust="0"/>
    <p:restoredTop sz="94643"/>
  </p:normalViewPr>
  <p:slideViewPr>
    <p:cSldViewPr snapToGrid="0">
      <p:cViewPr varScale="1">
        <p:scale>
          <a:sx n="115" d="100"/>
          <a:sy n="115" d="100"/>
        </p:scale>
        <p:origin x="30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784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1370D-ABEB-425B-ADF0-7925AE0D2D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AA396-8F27-4FE3-92B6-74EEBE285A5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030548" y="109257"/>
            <a:ext cx="4921967" cy="1038173"/>
            <a:chOff x="2175519" y="2264628"/>
            <a:chExt cx="4921967" cy="1038173"/>
          </a:xfrm>
        </p:grpSpPr>
        <p:pic>
          <p:nvPicPr>
            <p:cNvPr id="6" name="图片 5" descr="连标"/>
            <p:cNvPicPr>
              <a:picLocks noChangeAspect="1"/>
            </p:cNvPicPr>
            <p:nvPr/>
          </p:nvPicPr>
          <p:blipFill>
            <a:blip r:embed="rId3"/>
            <a:srcRect r="64013"/>
            <a:stretch>
              <a:fillRect/>
            </a:stretch>
          </p:blipFill>
          <p:spPr>
            <a:xfrm>
              <a:off x="2175519" y="2362218"/>
              <a:ext cx="1528881" cy="932900"/>
            </a:xfrm>
            <a:prstGeom prst="rect">
              <a:avLst/>
            </a:prstGeom>
          </p:spPr>
        </p:pic>
        <p:pic>
          <p:nvPicPr>
            <p:cNvPr id="8" name="图片 7" descr="有意思连标"/>
            <p:cNvPicPr>
              <a:picLocks noChangeAspect="1"/>
            </p:cNvPicPr>
            <p:nvPr/>
          </p:nvPicPr>
          <p:blipFill>
            <a:blip r:embed="rId4"/>
            <a:srcRect r="55699"/>
            <a:stretch>
              <a:fillRect/>
            </a:stretch>
          </p:blipFill>
          <p:spPr>
            <a:xfrm>
              <a:off x="3468117" y="2264628"/>
              <a:ext cx="1528882" cy="1030490"/>
            </a:xfrm>
            <a:prstGeom prst="rect">
              <a:avLst/>
            </a:prstGeom>
          </p:spPr>
        </p:pic>
        <p:pic>
          <p:nvPicPr>
            <p:cNvPr id="9" name="图片 8" descr="有意思连标"/>
            <p:cNvPicPr>
              <a:picLocks noChangeAspect="1"/>
            </p:cNvPicPr>
            <p:nvPr userDrawn="1"/>
          </p:nvPicPr>
          <p:blipFill>
            <a:blip r:embed="rId4"/>
            <a:srcRect l="48545"/>
            <a:stretch>
              <a:fillRect/>
            </a:stretch>
          </p:blipFill>
          <p:spPr>
            <a:xfrm>
              <a:off x="5315373" y="2268644"/>
              <a:ext cx="1782113" cy="1034157"/>
            </a:xfrm>
            <a:prstGeom prst="rect">
              <a:avLst/>
            </a:prstGeom>
          </p:spPr>
        </p:pic>
        <p:pic>
          <p:nvPicPr>
            <p:cNvPr id="10" name="图片 9" descr="连标"/>
            <p:cNvPicPr>
              <a:picLocks noChangeAspect="1"/>
            </p:cNvPicPr>
            <p:nvPr userDrawn="1"/>
          </p:nvPicPr>
          <p:blipFill>
            <a:blip r:embed="rId3"/>
            <a:srcRect l="30287" r="64013"/>
            <a:stretch>
              <a:fillRect/>
            </a:stretch>
          </p:blipFill>
          <p:spPr>
            <a:xfrm>
              <a:off x="5029656" y="2366234"/>
              <a:ext cx="242175" cy="932900"/>
            </a:xfrm>
            <a:prstGeom prst="rect">
              <a:avLst/>
            </a:prstGeom>
          </p:spPr>
        </p:pic>
      </p:grpSp>
      <p:pic>
        <p:nvPicPr>
          <p:cNvPr id="2" name="图片 1" descr="未标题-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96685" y="5886450"/>
            <a:ext cx="5171440" cy="8388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"/>
          <p:cNvPicPr>
            <a:picLocks noChangeAspect="1"/>
          </p:cNvPicPr>
          <p:nvPr userDrawn="1"/>
        </p:nvPicPr>
        <p:blipFill>
          <a:blip r:embed="rId2"/>
          <a:srcRect t="90094"/>
          <a:stretch>
            <a:fillRect/>
          </a:stretch>
        </p:blipFill>
        <p:spPr>
          <a:xfrm>
            <a:off x="0" y="6176963"/>
            <a:ext cx="12192000" cy="6791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pic>
        <p:nvPicPr>
          <p:cNvPr id="3" name="图片 2" descr="未标题-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96685" y="5886450"/>
            <a:ext cx="5171440" cy="838835"/>
          </a:xfrm>
          <a:prstGeom prst="rect">
            <a:avLst/>
          </a:prstGeom>
        </p:spPr>
      </p:pic>
      <p:grpSp>
        <p:nvGrpSpPr>
          <p:cNvPr id="11" name="组合 10"/>
          <p:cNvGrpSpPr/>
          <p:nvPr userDrawn="1"/>
        </p:nvGrpSpPr>
        <p:grpSpPr>
          <a:xfrm>
            <a:off x="7030548" y="109257"/>
            <a:ext cx="4921967" cy="1038173"/>
            <a:chOff x="2175519" y="2264628"/>
            <a:chExt cx="4921967" cy="1038173"/>
          </a:xfrm>
        </p:grpSpPr>
        <p:pic>
          <p:nvPicPr>
            <p:cNvPr id="12" name="图片 11" descr="连标"/>
            <p:cNvPicPr>
              <a:picLocks noChangeAspect="1"/>
            </p:cNvPicPr>
            <p:nvPr/>
          </p:nvPicPr>
          <p:blipFill>
            <a:blip r:embed="rId4"/>
            <a:srcRect r="64013"/>
            <a:stretch>
              <a:fillRect/>
            </a:stretch>
          </p:blipFill>
          <p:spPr>
            <a:xfrm>
              <a:off x="2175519" y="2362218"/>
              <a:ext cx="1528881" cy="932900"/>
            </a:xfrm>
            <a:prstGeom prst="rect">
              <a:avLst/>
            </a:prstGeom>
          </p:spPr>
        </p:pic>
        <p:pic>
          <p:nvPicPr>
            <p:cNvPr id="13" name="图片 12" descr="有意思连标"/>
            <p:cNvPicPr>
              <a:picLocks noChangeAspect="1"/>
            </p:cNvPicPr>
            <p:nvPr/>
          </p:nvPicPr>
          <p:blipFill>
            <a:blip r:embed="rId5"/>
            <a:srcRect r="55699"/>
            <a:stretch>
              <a:fillRect/>
            </a:stretch>
          </p:blipFill>
          <p:spPr>
            <a:xfrm>
              <a:off x="3468117" y="2264628"/>
              <a:ext cx="1528882" cy="1030490"/>
            </a:xfrm>
            <a:prstGeom prst="rect">
              <a:avLst/>
            </a:prstGeom>
          </p:spPr>
        </p:pic>
        <p:pic>
          <p:nvPicPr>
            <p:cNvPr id="15" name="图片 14" descr="有意思连标"/>
            <p:cNvPicPr>
              <a:picLocks noChangeAspect="1"/>
            </p:cNvPicPr>
            <p:nvPr userDrawn="1"/>
          </p:nvPicPr>
          <p:blipFill>
            <a:blip r:embed="rId5"/>
            <a:srcRect l="48545"/>
            <a:stretch>
              <a:fillRect/>
            </a:stretch>
          </p:blipFill>
          <p:spPr>
            <a:xfrm>
              <a:off x="5315373" y="2268644"/>
              <a:ext cx="1782113" cy="1034157"/>
            </a:xfrm>
            <a:prstGeom prst="rect">
              <a:avLst/>
            </a:prstGeom>
          </p:spPr>
        </p:pic>
        <p:pic>
          <p:nvPicPr>
            <p:cNvPr id="16" name="图片 15" descr="连标"/>
            <p:cNvPicPr>
              <a:picLocks noChangeAspect="1"/>
            </p:cNvPicPr>
            <p:nvPr userDrawn="1"/>
          </p:nvPicPr>
          <p:blipFill>
            <a:blip r:embed="rId4"/>
            <a:srcRect l="30287" r="64013"/>
            <a:stretch>
              <a:fillRect/>
            </a:stretch>
          </p:blipFill>
          <p:spPr>
            <a:xfrm>
              <a:off x="5029656" y="2366234"/>
              <a:ext cx="242175" cy="93290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58FFC-3A76-4D99-AB9F-7999D75783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A21B9-1903-450D-A962-157248E63012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5673725" y="6530340"/>
            <a:ext cx="8763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900">
                <a:solidFill>
                  <a:srgbClr val="008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C1 - Internal use</a:t>
            </a:r>
            <a:endParaRPr lang="zh-CN" altLang="en-US" sz="900">
              <a:solidFill>
                <a:srgbClr val="008000">
                  <a:alpha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8"/>
          <p:cNvSpPr/>
          <p:nvPr/>
        </p:nvSpPr>
        <p:spPr>
          <a:xfrm>
            <a:off x="1436862" y="4048271"/>
            <a:ext cx="8500425" cy="11914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67740">
              <a:lnSpc>
                <a:spcPct val="130000"/>
              </a:lnSpc>
            </a:pPr>
            <a:r>
              <a:rPr lang="zh-CN" altLang="en-US" sz="1500" dirty="0" b="0">
                <a:solidFill>
                  <a:srgbClr val="FFFFFF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面向视障人群的无障碍美妆助手：把口红色号翻译成声音与语言。</a:t>
            </a:r>
            <a:endParaRPr lang="zh-CN" altLang="en-US" sz="1400" dirty="0">
              <a:solidFill>
                <a:srgbClr val="FFFFFF"/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  <a:p>
            <a:pPr defTabSz="967740">
              <a:lnSpc>
                <a:spcPct val="130000"/>
              </a:lnSpc>
            </a:pPr>
            <a:r>
              <a:rPr lang="zh-CN" altLang="en-US" sz="1300" dirty="0" b="0">
                <a:solidFill>
                  <a:srgbClr val="EFE2F7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在线体验：lulu520-1314.github.io/lightup</a:t>
            </a:r>
            <a:endParaRPr lang="zh-CN" altLang="en-US" sz="1400" dirty="0">
              <a:solidFill>
                <a:srgbClr val="FFFFFF"/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  <a:p>
            <a:pPr defTabSz="96774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1477182" y="2034216"/>
            <a:ext cx="92779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67740"/>
            <a:r>
              <a:rPr lang="zh-CN" altLang="en-US" sz="4400" b="1" dirty="0">
                <a:solidFill>
                  <a:srgbClr val="FFFFFF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听见颜色</a:t>
            </a:r>
            <a:endParaRPr lang="zh-CN" altLang="en-US" sz="4400" b="1" dirty="0">
              <a:solidFill>
                <a:srgbClr val="FFFFFF"/>
              </a:solidFill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  <a:p>
            <a:pPr defTabSz="967740">
              <a:lnSpc>
                <a:spcPct val="120000"/>
              </a:lnSpc>
            </a:pPr>
            <a:r>
              <a:rPr lang="zh-CN" altLang="en-US" sz="2000" b="0" dirty="0">
                <a:solidFill>
                  <a:srgbClr val="FFFFFF"/>
                </a:solidFill>
                <a:latin typeface="思源黑体 CN Light" panose="020B0800000000000000" charset="-122"/>
                <a:ea typeface="思源黑体 CN Light" panose="020B0800000000000000" charset="-122"/>
                <a:sym typeface="+mn-ea"/>
              </a:rPr>
              <a:t>LightUp 光引 · 无界体验家（主题二）· 队伍：翰林仕</a:t>
            </a:r>
            <a:endParaRPr lang="en-US" altLang="zh-CN" sz="4400" b="1" dirty="0">
              <a:solidFill>
                <a:srgbClr val="FFFFFF"/>
              </a:solidFill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832060" y="826166"/>
            <a:ext cx="35079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67740"/>
            <a:r>
              <a:rPr lang="zh-CN" altLang="en-US" sz="4400" b="1" dirty="0">
                <a:solidFill>
                  <a:srgbClr val="3F3F3F">
                    <a:lumMod val="75000"/>
                  </a:srgbClr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内容页</a:t>
            </a:r>
            <a:endParaRPr lang="zh-CN" altLang="en-US" sz="4400" b="1" dirty="0">
              <a:solidFill>
                <a:srgbClr val="3F3F3F">
                  <a:lumMod val="75000"/>
                </a:srgbClr>
              </a:solidFill>
              <a:effectLst>
                <a:outerShdw blurRad="381000" algn="ctr" rotWithShape="0">
                  <a:prstClr val="black">
                    <a:alpha val="25000"/>
                  </a:prst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6" name="矩形 3"/>
          <p:cNvSpPr/>
          <p:nvPr/>
        </p:nvSpPr>
        <p:spPr>
          <a:xfrm>
            <a:off x="912683" y="1976422"/>
            <a:ext cx="6910418" cy="33083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67740">
              <a:lnSpc>
                <a:spcPct val="130000"/>
              </a:lnSpc>
            </a:pPr>
            <a:r>
              <a:rPr lang="zh-CN" altLang="en-US" sz="1400" dirty="0">
                <a:solidFill>
                  <a:srgbClr val="3F3F3F">
                    <a:lumMod val="75000"/>
                  </a:srgbClr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内容需包含作品背景、技术实现方式、作品使用场景、未来完善方向四大板块</a:t>
            </a:r>
            <a:endParaRPr lang="en-US" altLang="zh-CN" sz="1400" dirty="0">
              <a:solidFill>
                <a:srgbClr val="3F3F3F">
                  <a:lumMod val="75000"/>
                </a:srgbClr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  <a:p>
            <a:pPr defTabSz="967740">
              <a:lnSpc>
                <a:spcPct val="130000"/>
              </a:lnSpc>
            </a:pPr>
            <a:r>
              <a:rPr lang="zh-CN" altLang="en-US" sz="1400" dirty="0">
                <a:solidFill>
                  <a:srgbClr val="3F3F3F">
                    <a:lumMod val="75000"/>
                  </a:srgbClr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若有其他板块可酌情呈现</a:t>
            </a:r>
            <a:endParaRPr lang="en-US" altLang="zh-CN" sz="1400" dirty="0">
              <a:solidFill>
                <a:srgbClr val="3F3F3F">
                  <a:lumMod val="75000"/>
                </a:srgbClr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  <a:p>
            <a:pPr defTabSz="967740"/>
            <a:endParaRPr lang="en-US" altLang="zh-CN" sz="1400" dirty="0">
              <a:solidFill>
                <a:srgbClr val="3F3F3F">
                  <a:lumMod val="75000"/>
                </a:srgbClr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/>
          <p:cNvSpPr txBox="1"/>
          <p:nvPr/>
        </p:nvSpPr>
        <p:spPr>
          <a:xfrm>
            <a:off x="747" y="2659198"/>
            <a:ext cx="12190507" cy="18621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67740">
              <a:spcBef>
                <a:spcPts val="1060"/>
              </a:spcBef>
            </a:pPr>
            <a:r>
              <a:rPr lang="en-US" altLang="zh-CN" sz="4400" b="1" i="1" dirty="0">
                <a:solidFill>
                  <a:srgbClr val="FFFFFF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让美，不依赖眼睛。</a:t>
            </a:r>
            <a:endParaRPr lang="zh-CN" altLang="en-US" sz="7200" b="1" i="1" dirty="0">
              <a:solidFill>
                <a:srgbClr val="FFFFFF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  <a:p>
            <a:pPr algn="ctr">
              <a:lnSpc>
                <a:spcPct val="160000"/>
              </a:lnSpc>
            </a:pPr>
            <a:r>
              <a:rPr sz="1600" b="0">
                <a:solidFill>
                  <a:srgbClr val="F2E6FA"/>
                </a:solidFill>
                <a:latin typeface="思源黑体 CN Light"/>
                <a:ea typeface="思源黑体 CN Light"/>
              </a:rPr>
              <a:t>LightUp 光引 · 在线体验 lulu520-1314.github.io/lightup</a:t>
            </a:r>
          </a:p>
        </p:txBody>
      </p:sp>
      <p:pic>
        <p:nvPicPr>
          <p:cNvPr id="6" name="Picture 5" descr="q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151" y="4434840"/>
            <a:ext cx="1005840" cy="1005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125151" y="4434840"/>
            <a:ext cx="1005840" cy="1005840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42271" y="55321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F2E6FA"/>
                </a:solidFill>
                <a:latin typeface="思源黑体 CN Light"/>
                <a:ea typeface="思源黑体 CN Light"/>
              </a:rPr>
              <a:t>扫码在线体验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31520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F1F24"/>
                </a:solidFill>
                <a:latin typeface="思源黑体 CN Bold"/>
                <a:ea typeface="思源黑体 CN Bold"/>
              </a:rPr>
              <a:t>她们买口红时，是在赌一个看不见的答案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31673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美妆是社交与就业的“隐形门槛”，而这道门槛对视障人群几乎不可跨越。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37360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938528"/>
            <a:ext cx="3200400" cy="1874519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21396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C42DD6"/>
                </a:solidFill>
                <a:latin typeface="思源黑体 CN Bold"/>
                <a:ea typeface="思源黑体 CN Bold"/>
              </a:rPr>
              <a:t>地域局限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468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1F1F24"/>
                </a:solidFill>
                <a:latin typeface="思源黑体 CN Bold"/>
                <a:ea typeface="思源黑体 CN Bold"/>
              </a:rPr>
              <a:t>小镇没有专柜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92608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6B6B76"/>
                </a:solidFill>
                <a:latin typeface="思源黑体 CN Light"/>
                <a:ea typeface="思源黑体 CN Light"/>
              </a:rPr>
              <a:t>试色只能靠网购盲猜，买错就闲置。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938528"/>
            <a:ext cx="3200400" cy="1874519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21396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C42DD6"/>
                </a:solidFill>
                <a:latin typeface="思源黑体 CN Bold"/>
                <a:ea typeface="思源黑体 CN Bold"/>
              </a:rPr>
              <a:t>认知局限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2468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1F1F24"/>
                </a:solidFill>
                <a:latin typeface="思源黑体 CN Bold"/>
                <a:ea typeface="思源黑体 CN Bold"/>
              </a:rPr>
              <a:t>长辈看不懂成分表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92608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6B6B76"/>
                </a:solidFill>
                <a:latin typeface="思源黑体 CN Light"/>
                <a:ea typeface="思源黑体 CN Light"/>
              </a:rPr>
              <a:t>“烟酰胺”“视黄醇”像天书，不敢用。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938528"/>
            <a:ext cx="3200400" cy="1874519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21396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C42DD6"/>
                </a:solidFill>
                <a:latin typeface="思源黑体 CN Bold"/>
                <a:ea typeface="思源黑体 CN Bold"/>
              </a:rPr>
              <a:t>感官局限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2468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1F1F24"/>
                </a:solidFill>
                <a:latin typeface="思源黑体 CN Bold"/>
                <a:ea typeface="思源黑体 CN Bold"/>
              </a:rPr>
              <a:t>分不清口红色号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292608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6B6B76"/>
                </a:solidFill>
                <a:latin typeface="思源黑体 CN Light"/>
                <a:ea typeface="思源黑体 CN Light"/>
              </a:rPr>
              <a:t>“正红”和“豆沙”在她们那里是同一个词。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422452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中国视力残疾人群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4553712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400" b="1">
                <a:solidFill>
                  <a:srgbClr val="7C1CA6"/>
                </a:solidFill>
                <a:latin typeface="思源黑体 CN Bold"/>
                <a:ea typeface="思源黑体 CN Bold"/>
              </a:rPr>
              <a:t>1700万+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624" y="4681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1F1F24"/>
                </a:solidFill>
                <a:latin typeface="思源黑体 CN Light"/>
                <a:ea typeface="思源黑体 CN Light"/>
              </a:rPr>
              <a:t>其中女性约占一半，正是美妆的核心用户。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53492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数据口径：中国残联 / 世界卫生组织公开资料整理；用于说明需求规模，非精确统计。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45191" y="768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02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31520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F1F24"/>
                </a:solidFill>
                <a:latin typeface="思源黑体 CN Bold"/>
                <a:ea typeface="思源黑体 CN Bold"/>
              </a:rPr>
              <a:t>组件都成熟，场景是空的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31673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我们检索了开源社区：技术不是瓶颈，缺的是“把它翻译成她们能用的形式”。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37360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9842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5400" b="1">
                <a:solidFill>
                  <a:srgbClr val="7C1CA6"/>
                </a:solidFill>
                <a:latin typeface="思源黑体 CN Bold"/>
                <a:ea typeface="思源黑体 CN Bold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89864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F1F24"/>
                </a:solidFill>
                <a:latin typeface="思源黑体 CN Bold"/>
                <a:ea typeface="思源黑体 CN Bold"/>
              </a:rPr>
              <a:t>视障 × 美妆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32644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几乎没有开源项目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3672" y="19842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5400" b="1">
                <a:solidFill>
                  <a:srgbClr val="7C1CA6"/>
                </a:solidFill>
                <a:latin typeface="思源黑体 CN Bold"/>
                <a:ea typeface="思源黑体 CN Bold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3672" y="289864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F1F24"/>
                </a:solidFill>
                <a:latin typeface="思源黑体 CN Bold"/>
                <a:ea typeface="思源黑体 CN Bold"/>
              </a:rPr>
              <a:t>成分识别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32644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组件成熟，可直接用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9842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5400" b="1">
                <a:solidFill>
                  <a:srgbClr val="7C1CA6"/>
                </a:solidFill>
                <a:latin typeface="思源黑体 CN Bold"/>
                <a:ea typeface="思源黑体 CN Bold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89864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F1F24"/>
                </a:solidFill>
                <a:latin typeface="思源黑体 CN Bold"/>
                <a:ea typeface="思源黑体 CN Bold"/>
              </a:rPr>
              <a:t>声音化无障碍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2644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范式成熟，可直接借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" y="4315968"/>
            <a:ext cx="10515600" cy="10972"/>
          </a:xfrm>
          <a:prstGeom prst="rect">
            <a:avLst/>
          </a:prstGeom>
          <a:solidFill>
            <a:srgbClr val="E3D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452628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600" b="0">
                <a:solidFill>
                  <a:srgbClr val="1F1F24"/>
                </a:solidFill>
                <a:latin typeface="思源黑体 CN Light"/>
                <a:ea typeface="思源黑体 CN Light"/>
              </a:rPr>
              <a:t>结论：把视觉、色差、声化这些现成能力接起来，只补“美妆语境下的翻译层”，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600" b="0">
                <a:solidFill>
                  <a:srgbClr val="1F1F24"/>
                </a:solidFill>
                <a:latin typeface="思源黑体 CN Light"/>
                <a:ea typeface="思源黑体 CN Light"/>
              </a:rPr>
              <a:t>就能做出别人没做过的东西——门槛在体验设计，不在算力。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45191" y="768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03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31520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F1F24"/>
                </a:solidFill>
                <a:latin typeface="思源黑体 CN Bold"/>
                <a:ea typeface="思源黑体 CN Bold"/>
              </a:rPr>
              <a:t>核心创意：把颜色翻译成一段可记忆的旋律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31673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现有 AI 都在“描述世界”，视障者需要的却是“能记住、能复述”的判断依据。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37360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" y="1801367"/>
            <a:ext cx="10515600" cy="475488"/>
          </a:xfrm>
          <a:prstGeom prst="rect">
            <a:avLst/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92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7C1CA6"/>
                </a:solidFill>
                <a:latin typeface="思源黑体 CN Bold"/>
                <a:ea typeface="思源黑体 CN Bold"/>
              </a:rPr>
              <a:t>色相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6544" y="1892807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F1F24"/>
                </a:solidFill>
                <a:latin typeface="思源黑体 CN Light"/>
                <a:ea typeface="思源黑体 CN Light"/>
              </a:rPr>
              <a:t>五声音阶 · 两个八度（10 个音位）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1384" y="1892807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任何颜色都有唯一音高位置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04872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7C1CA6"/>
                </a:solidFill>
                <a:latin typeface="思源黑体 CN Bold"/>
                <a:ea typeface="思源黑体 CN Bold"/>
              </a:rPr>
              <a:t>冷暖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66544" y="240487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F1F24"/>
                </a:solidFill>
                <a:latin typeface="思源黑体 CN Light"/>
                <a:ea typeface="思源黑体 CN Light"/>
              </a:rPr>
              <a:t>大三和弦 / 小三和弦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2404872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听一秒就知道偏橘还是偏莓果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" y="2825496"/>
            <a:ext cx="10515600" cy="475488"/>
          </a:xfrm>
          <a:prstGeom prst="rect">
            <a:avLst/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916936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7C1CA6"/>
                </a:solidFill>
                <a:latin typeface="思源黑体 CN Bold"/>
                <a:ea typeface="思源黑体 CN Bold"/>
              </a:rPr>
              <a:t>明度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6544" y="2916936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F1F24"/>
                </a:solidFill>
                <a:latin typeface="思源黑体 CN Light"/>
                <a:ea typeface="思源黑体 CN Light"/>
              </a:rPr>
              <a:t>音量 + 八度微调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91693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深色沉、浅色亮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429000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7C1CA6"/>
                </a:solidFill>
                <a:latin typeface="思源黑体 CN Bold"/>
                <a:ea typeface="思源黑体 CN Bold"/>
              </a:rPr>
              <a:t>饱和度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6544" y="3429000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F1F24"/>
                </a:solidFill>
                <a:latin typeface="思源黑体 CN Light"/>
                <a:ea typeface="思源黑体 CN Light"/>
              </a:rPr>
              <a:t>正弦 → 三角 → 锯齿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42900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越艳，泛音越亮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" y="4526280"/>
            <a:ext cx="932688" cy="237744"/>
          </a:xfrm>
          <a:prstGeom prst="rect">
            <a:avLst/>
          </a:prstGeom>
          <a:solidFill>
            <a:srgbClr val="EA4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4800600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47088" y="4526280"/>
            <a:ext cx="932688" cy="237744"/>
          </a:xfrm>
          <a:prstGeom prst="rect">
            <a:avLst/>
          </a:prstGeom>
          <a:solidFill>
            <a:srgbClr val="EAA7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47088" y="4800600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62072" y="4526280"/>
            <a:ext cx="932688" cy="237744"/>
          </a:xfrm>
          <a:prstGeom prst="rect">
            <a:avLst/>
          </a:prstGeom>
          <a:solidFill>
            <a:srgbClr val="C8EA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2072" y="4800600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77056" y="4526280"/>
            <a:ext cx="932688" cy="237744"/>
          </a:xfrm>
          <a:prstGeom prst="rect">
            <a:avLst/>
          </a:prstGeom>
          <a:solidFill>
            <a:srgbClr val="63EA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77056" y="4800600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4526280"/>
            <a:ext cx="932688" cy="237744"/>
          </a:xfrm>
          <a:prstGeom prst="rect">
            <a:avLst/>
          </a:prstGeom>
          <a:solidFill>
            <a:srgbClr val="41EA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800600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7024" y="4526280"/>
            <a:ext cx="932688" cy="237744"/>
          </a:xfrm>
          <a:prstGeom prst="rect">
            <a:avLst/>
          </a:prstGeom>
          <a:solidFill>
            <a:srgbClr val="41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07024" y="4800600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宫'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22008" y="4526280"/>
            <a:ext cx="932688" cy="237744"/>
          </a:xfrm>
          <a:prstGeom prst="rect">
            <a:avLst/>
          </a:prstGeom>
          <a:solidFill>
            <a:srgbClr val="4185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22008" y="4800600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商'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36992" y="4526280"/>
            <a:ext cx="932688" cy="237744"/>
          </a:xfrm>
          <a:prstGeom prst="rect">
            <a:avLst/>
          </a:prstGeom>
          <a:solidFill>
            <a:srgbClr val="634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36992" y="4800600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角'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51976" y="4526280"/>
            <a:ext cx="932688" cy="237744"/>
          </a:xfrm>
          <a:prstGeom prst="rect">
            <a:avLst/>
          </a:prstGeom>
          <a:solidFill>
            <a:srgbClr val="C84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51976" y="4800600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徵'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4526280"/>
            <a:ext cx="932688" cy="237744"/>
          </a:xfrm>
          <a:prstGeom prst="rect">
            <a:avLst/>
          </a:prstGeom>
          <a:solidFill>
            <a:srgbClr val="EA41A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60" y="4800600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羽'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" y="513892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360° 色相被切成 10 个音位，每个音位对应一段固定旋律——颜色从此可以被“背下来”。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" y="559612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7C1CA6"/>
                </a:solidFill>
                <a:latin typeface="思源黑体 CN Bold"/>
                <a:ea typeface="思源黑体 CN Bold"/>
              </a:rPr>
              <a:t>不是“把颜色说出来”，而是“让颜色被记住”。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5191" y="768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04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31520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F1F24"/>
                </a:solidFill>
                <a:latin typeface="思源黑体 CN Bold"/>
                <a:ea typeface="思源黑体 CN Bold"/>
              </a:rPr>
              <a:t>四个模块，覆盖“选色 → 试色 → 验妆”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31673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全部在浏览器本地运行，不需要联网、不需要 GPU。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37360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984248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C42DD6"/>
                </a:solidFill>
                <a:latin typeface="思源黑体 CN Bold"/>
                <a:ea typeface="思源黑体 CN 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505456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1F1F24"/>
                </a:solidFill>
                <a:latin typeface="思源黑体 CN Bold"/>
                <a:ea typeface="思源黑体 CN Bold"/>
              </a:rPr>
              <a:t>读色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944368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点哪读哪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328416"/>
            <a:ext cx="215798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7C1CA6"/>
                </a:solidFill>
                <a:latin typeface="思源黑体 CN Light"/>
                <a:ea typeface="思源黑体 CN Light"/>
              </a:rPr>
              <a:t>色号 · 冷暖 · 相近色 · 旋律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984248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194560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C42DD6"/>
                </a:solidFill>
                <a:latin typeface="思源黑体 CN Bold"/>
                <a:ea typeface="思源黑体 CN 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2505456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1F1F24"/>
                </a:solidFill>
                <a:latin typeface="思源黑体 CN Bold"/>
                <a:ea typeface="思源黑体 CN Bold"/>
              </a:rPr>
              <a:t>诊肤色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944368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两颊 + 额头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3328416"/>
            <a:ext cx="215798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7C1CA6"/>
                </a:solidFill>
                <a:latin typeface="思源黑体 CN Light"/>
                <a:ea typeface="思源黑体 CN Light"/>
              </a:rPr>
              <a:t>肤色深浅 · 冷暖 · 3 支推荐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984248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2194560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C42DD6"/>
                </a:solidFill>
                <a:latin typeface="思源黑体 CN Bold"/>
                <a:ea typeface="思源黑体 CN 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505456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1F1F24"/>
                </a:solidFill>
                <a:latin typeface="思源黑体 CN Bold"/>
                <a:ea typeface="思源黑体 CN Bold"/>
              </a:rPr>
              <a:t>查妆容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944368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涂完再测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328416"/>
            <a:ext cx="215798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7C1CA6"/>
                </a:solidFill>
                <a:latin typeface="思源黑体 CN Light"/>
                <a:ea typeface="思源黑体 CN Light"/>
              </a:rPr>
              <a:t>与目标色的偏差 · 补涂建议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984248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2194560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C42DD6"/>
                </a:solidFill>
                <a:latin typeface="思源黑体 CN Bold"/>
                <a:ea typeface="思源黑体 CN 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505456"/>
            <a:ext cx="2121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1F1F24"/>
                </a:solidFill>
                <a:latin typeface="思源黑体 CN Bold"/>
                <a:ea typeface="思源黑体 CN Bold"/>
              </a:rPr>
              <a:t>试色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944368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选一支色号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3328416"/>
            <a:ext cx="215798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7C1CA6"/>
                </a:solidFill>
                <a:latin typeface="思源黑体 CN Light"/>
                <a:ea typeface="思源黑体 CN Light"/>
              </a:rPr>
              <a:t>直接涂在唇形上，可快速换色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50749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配套无障碍设计：纯键盘可操作 · 语音与字幕双通道 · 大字 / 高对比 · 焦点不丢。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45191" y="768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05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31520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F1F24"/>
                </a:solidFill>
                <a:latin typeface="思源黑体 CN Bold"/>
                <a:ea typeface="思源黑体 CN Bold"/>
              </a:rPr>
              <a:t>核心功能演示：它读出了「复古红」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31673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以下均为真实运行截图，非渲染图。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37360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10-read.png"/>
          <p:cNvPicPr>
            <a:picLocks noChangeAspect="1"/>
          </p:cNvPicPr>
          <p:nvPr/>
        </p:nvPicPr>
        <p:blipFill>
          <a:blip r:embed="rId2"/>
          <a:srcRect l="10074" r="10074"/>
          <a:stretch>
            <a:fillRect/>
          </a:stretch>
        </p:blipFill>
        <p:spPr>
          <a:xfrm>
            <a:off x="832104" y="1847088"/>
            <a:ext cx="3310128" cy="2331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" y="1847088"/>
            <a:ext cx="3310128" cy="2331720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4279392"/>
            <a:ext cx="3310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读色：偏差 6.4，判定“明显接近”</a:t>
            </a:r>
          </a:p>
        </p:txBody>
      </p:sp>
      <p:pic>
        <p:nvPicPr>
          <p:cNvPr id="8" name="Picture 7" descr="11-check.png"/>
          <p:cNvPicPr>
            <a:picLocks noChangeAspect="1"/>
          </p:cNvPicPr>
          <p:nvPr/>
        </p:nvPicPr>
        <p:blipFill>
          <a:blip r:embed="rId3"/>
          <a:srcRect l="10074" r="10074"/>
          <a:stretch>
            <a:fillRect/>
          </a:stretch>
        </p:blipFill>
        <p:spPr>
          <a:xfrm>
            <a:off x="4325112" y="1847088"/>
            <a:ext cx="3310128" cy="2331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25112" y="1847088"/>
            <a:ext cx="3310128" cy="2331720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4279392"/>
            <a:ext cx="3310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查妆容：记住目标色后比对偏差</a:t>
            </a:r>
          </a:p>
        </p:txBody>
      </p:sp>
      <p:pic>
        <p:nvPicPr>
          <p:cNvPr id="11" name="Picture 10" descr="82-skin-enriched.png"/>
          <p:cNvPicPr>
            <a:picLocks noChangeAspect="1"/>
          </p:cNvPicPr>
          <p:nvPr/>
        </p:nvPicPr>
        <p:blipFill>
          <a:blip r:embed="rId4"/>
          <a:srcRect l="10074" r="10074"/>
          <a:stretch>
            <a:fillRect/>
          </a:stretch>
        </p:blipFill>
        <p:spPr>
          <a:xfrm>
            <a:off x="7818119" y="1847088"/>
            <a:ext cx="3310128" cy="23317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818119" y="1847088"/>
            <a:ext cx="3310128" cy="2331720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19" y="4279392"/>
            <a:ext cx="3310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诊肤色：深浅 + 冷暖 + 3 支推荐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" y="4956048"/>
            <a:ext cx="10515600" cy="10972"/>
          </a:xfrm>
          <a:prstGeom prst="rect">
            <a:avLst/>
          </a:prstGeom>
          <a:solidFill>
            <a:srgbClr val="E3D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513892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400" b="0">
                <a:solidFill>
                  <a:srgbClr val="1F1F24"/>
                </a:solidFill>
                <a:latin typeface="思源黑体 CN Light"/>
                <a:ea typeface="思源黑体 CN Light"/>
              </a:rPr>
              <a:t>同一段真实操作：读出「复古红」→ 记住它 → 涂完后自检偏差 6.4。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400" b="0">
                <a:solidFill>
                  <a:srgbClr val="1F1F24"/>
                </a:solidFill>
                <a:latin typeface="思源黑体 CN Light"/>
                <a:ea typeface="思源黑体 CN Light"/>
              </a:rPr>
              <a:t>每一步都有声音与文字双通道，闭眼也能完成。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45191" y="768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06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31520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F1F24"/>
                </a:solidFill>
                <a:latin typeface="思源黑体 CN Bold"/>
                <a:ea typeface="思源黑体 CN Bold"/>
              </a:rPr>
              <a:t>技术实现：一条本地流水线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31673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模型 3.6 MB，随页面下载，断网可用；画面不出设备。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37360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984248"/>
            <a:ext cx="1874519" cy="118872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157984"/>
            <a:ext cx="1600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C42DD6"/>
                </a:solidFill>
                <a:latin typeface="思源黑体 CN Bold"/>
                <a:ea typeface="思源黑体 CN 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414016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F1F24"/>
                </a:solidFill>
                <a:latin typeface="思源黑体 CN Bold"/>
                <a:ea typeface="思源黑体 CN Bold"/>
              </a:rPr>
              <a:t>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2743200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摄像头 / 图片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4912" y="2414016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42DD6"/>
                </a:solidFill>
                <a:latin typeface="思源黑体 CN Light"/>
                <a:ea typeface="思源黑体 CN Light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984248"/>
            <a:ext cx="1874519" cy="118872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2157984"/>
            <a:ext cx="1600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C42DD6"/>
                </a:solidFill>
                <a:latin typeface="思源黑体 CN Bold"/>
                <a:ea typeface="思源黑体 CN 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2414016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F1F24"/>
                </a:solidFill>
                <a:latin typeface="思源黑体 CN Bold"/>
                <a:ea typeface="思源黑体 CN Bold"/>
              </a:rPr>
              <a:t>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743200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478 点人脸网格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414016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42DD6"/>
                </a:solidFill>
                <a:latin typeface="思源黑体 CN Light"/>
                <a:ea typeface="思源黑体 CN Light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984248"/>
            <a:ext cx="1874519" cy="118872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157984"/>
            <a:ext cx="1600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C42DD6"/>
                </a:solidFill>
                <a:latin typeface="思源黑体 CN Bold"/>
                <a:ea typeface="思源黑体 CN 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414016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F1F24"/>
                </a:solidFill>
                <a:latin typeface="思源黑体 CN Bold"/>
                <a:ea typeface="思源黑体 CN Bold"/>
              </a:rPr>
              <a:t>采样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743200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唇 / 颊 / 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7" y="2414016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42DD6"/>
                </a:solidFill>
                <a:latin typeface="思源黑体 CN Light"/>
                <a:ea typeface="思源黑体 CN Light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3488" y="1984248"/>
            <a:ext cx="1874519" cy="118872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7" y="2157984"/>
            <a:ext cx="1600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C42DD6"/>
                </a:solidFill>
                <a:latin typeface="思源黑体 CN Bold"/>
                <a:ea typeface="思源黑体 CN 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2414016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F1F24"/>
                </a:solidFill>
                <a:latin typeface="思源黑体 CN Bold"/>
                <a:ea typeface="思源黑体 CN Bold"/>
              </a:rPr>
              <a:t>色彩科学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7" y="2743200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CIELAB · ΔE · ITA°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414016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42DD6"/>
                </a:solidFill>
                <a:latin typeface="思源黑体 CN Light"/>
                <a:ea typeface="思源黑体 CN Light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0615" y="1984248"/>
            <a:ext cx="1874519" cy="118872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83495" y="2157984"/>
            <a:ext cx="1600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C42DD6"/>
                </a:solidFill>
                <a:latin typeface="思源黑体 CN Bold"/>
                <a:ea typeface="思源黑体 CN Bol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3495" y="2414016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F1F24"/>
                </a:solidFill>
                <a:latin typeface="思源黑体 CN Bold"/>
                <a:ea typeface="思源黑体 CN Bold"/>
              </a:rPr>
              <a:t>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3495" y="2743200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声化 + 语音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" y="4224528"/>
            <a:ext cx="1325880" cy="384048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4297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7C1CA6"/>
                </a:solidFill>
                <a:latin typeface="思源黑体 CN Light"/>
                <a:ea typeface="思源黑体 CN Light"/>
              </a:rPr>
              <a:t>全本地推理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59152" y="4224528"/>
            <a:ext cx="1325880" cy="384048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9152" y="4297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7C1CA6"/>
                </a:solidFill>
                <a:latin typeface="思源黑体 CN Light"/>
                <a:ea typeface="思源黑体 CN Light"/>
              </a:rPr>
              <a:t>无画面上传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86200" y="4224528"/>
            <a:ext cx="1847088" cy="384048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4297680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7C1CA6"/>
                </a:solidFill>
                <a:latin typeface="思源黑体 CN Light"/>
                <a:ea typeface="思源黑体 CN Light"/>
              </a:rPr>
              <a:t>无 GPU 依赖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34456" y="4224528"/>
            <a:ext cx="2020824" cy="384048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34456" y="4297680"/>
            <a:ext cx="2020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7C1CA6"/>
                </a:solidFill>
                <a:latin typeface="思源黑体 CN Light"/>
                <a:ea typeface="思源黑体 CN Light"/>
              </a:rPr>
              <a:t>模型 3.6 MB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" y="489204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>
                <a:solidFill>
                  <a:srgbClr val="1F1F24"/>
                </a:solidFill>
                <a:latin typeface="思源黑体 CN Light"/>
                <a:ea typeface="思源黑体 CN Light"/>
              </a:rPr>
              <a:t>关键取舍：不训练模型，只做“翻译层”。赛题明确不需要微调 LLM，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>
                <a:solidFill>
                  <a:srgbClr val="1F1F24"/>
                </a:solidFill>
                <a:latin typeface="思源黑体 CN Light"/>
                <a:ea typeface="思源黑体 CN Light"/>
              </a:rPr>
              <a:t>真正的门槛在交互设计，不在算力。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45191" y="768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07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31520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F1F24"/>
                </a:solidFill>
                <a:latin typeface="思源黑体 CN Bold"/>
                <a:ea typeface="思源黑体 CN Bold"/>
              </a:rPr>
              <a:t>可行性：一台普通笔记本就够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31673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这也是我们能绕开平台依赖、独立完成作品的原因。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37360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9842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C42DD6"/>
                </a:solidFill>
                <a:latin typeface="思源黑体 CN Bold"/>
                <a:ea typeface="思源黑体 CN Bold"/>
              </a:rPr>
              <a:t>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27685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1F1F24"/>
                </a:solidFill>
                <a:latin typeface="思源黑体 CN Bold"/>
                <a:ea typeface="思源黑体 CN Bold"/>
              </a:rPr>
              <a:t>断网可用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71576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模型与 WASM 全部本地，展会现场无网也能演示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784" y="19842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C42DD6"/>
                </a:solidFill>
                <a:latin typeface="思源黑体 CN Bold"/>
                <a:ea typeface="思源黑体 CN Bold"/>
              </a:rPr>
              <a:t>零算力成本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2784" y="227685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1F1F24"/>
                </a:solidFill>
                <a:latin typeface="思源黑体 CN Bold"/>
                <a:ea typeface="思源黑体 CN Bold"/>
              </a:rPr>
              <a:t>CPU 可跑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4" y="271576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无需 GPU、无需云实例，浏览器即可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67588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C42DD6"/>
                </a:solidFill>
                <a:latin typeface="思源黑体 CN Bold"/>
                <a:ea typeface="思源黑体 CN Bold"/>
              </a:rPr>
              <a:t>隐私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96849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1F1F24"/>
                </a:solidFill>
                <a:latin typeface="思源黑体 CN Bold"/>
                <a:ea typeface="思源黑体 CN Bold"/>
              </a:rPr>
              <a:t>画面不出设备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4407407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本地推理，适合无障碍与个人场景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3675887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C42DD6"/>
                </a:solidFill>
                <a:latin typeface="思源黑体 CN Bold"/>
                <a:ea typeface="思源黑体 CN Bold"/>
              </a:rPr>
              <a:t>低成本复制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396849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1">
                <a:solidFill>
                  <a:srgbClr val="1F1F24"/>
                </a:solidFill>
                <a:latin typeface="思源黑体 CN Bold"/>
                <a:ea typeface="思源黑体 CN Bold"/>
              </a:rPr>
              <a:t>一个浏览器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4407407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专柜平板、手机、智慧屏都能部署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5191" y="768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08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31520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F1F24"/>
                </a:solidFill>
                <a:latin typeface="思源黑体 CN Bold"/>
                <a:ea typeface="思源黑体 CN Bold"/>
              </a:rPr>
              <a:t>实测结果：这些数字可以复现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31673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运行仓库里的自检脚本，即可得到下表。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37360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" y="1801367"/>
            <a:ext cx="10515600" cy="457200"/>
          </a:xfrm>
          <a:prstGeom prst="rect">
            <a:avLst/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892807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人脸网格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3864" y="189280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1F1F24"/>
                </a:solidFill>
                <a:latin typeface="思源黑体 CN Bold"/>
                <a:ea typeface="思源黑体 CN Bold"/>
              </a:rPr>
              <a:t>478 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9944" y="1892807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GPU 委托，浏览器内推理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4048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唇色识别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24048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1F1F24"/>
                </a:solidFill>
                <a:latin typeface="思源黑体 CN Bold"/>
                <a:ea typeface="思源黑体 CN Bold"/>
              </a:rPr>
              <a:t>复古红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9944" y="24048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ΔE2000 = 6.4（明显接近）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" y="2825496"/>
            <a:ext cx="10515600" cy="457200"/>
          </a:xfrm>
          <a:prstGeom prst="rect">
            <a:avLst/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9169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肤色判定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9169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1F1F24"/>
                </a:solidFill>
                <a:latin typeface="思源黑体 CN Bold"/>
                <a:ea typeface="思源黑体 CN Bold"/>
              </a:rPr>
              <a:t>ITA 66° · 暖调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91693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三点中位采样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429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取色准确度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429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1F1F24"/>
                </a:solidFill>
                <a:latin typeface="思源黑体 CN Bold"/>
                <a:ea typeface="思源黑体 CN Bold"/>
              </a:rPr>
              <a:t>31% → 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429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模拟偏色 + 高光，13 支色卡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" y="3849624"/>
            <a:ext cx="10515600" cy="457200"/>
          </a:xfrm>
          <a:prstGeom prst="rect">
            <a:avLst/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9410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模型体积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4" y="39410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1F1F24"/>
                </a:solidFill>
                <a:latin typeface="思源黑体 CN Bold"/>
                <a:ea typeface="思源黑体 CN Bold"/>
              </a:rPr>
              <a:t>3.6 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94106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含 WASM，离线可用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4531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控制台错误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3864" y="44531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1F1F24"/>
                </a:solidFill>
                <a:latin typeface="思源黑体 CN Bold"/>
                <a:ea typeface="思源黑体 CN Bold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45312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端到端自检通过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45191" y="768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09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31520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F1F24"/>
                </a:solidFill>
                <a:latin typeface="思源黑体 CN Bold"/>
                <a:ea typeface="思源黑体 CN Bold"/>
              </a:rPr>
              <a:t>用在哪：三个能被看见的场景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31673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赛题提到的三类落地形态，我们都做了可演示的最小版本。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37360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9842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7C1CA6"/>
                </a:solidFill>
                <a:latin typeface="思源黑体 CN Bold"/>
                <a:ea typeface="思源黑体 CN Bold"/>
              </a:rPr>
              <a:t>家庭梳妆台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0984" y="19842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F1F24"/>
                </a:solidFill>
                <a:latin typeface="思源黑体 CN Bold"/>
                <a:ea typeface="思源黑体 CN Bold"/>
              </a:rPr>
              <a:t>智能化妆镜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7064" y="198424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镜前语音引导上妆，化完自检是否出界；家人不在也能独立完成。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0358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7C1CA6"/>
                </a:solidFill>
                <a:latin typeface="思源黑体 CN Bold"/>
                <a:ea typeface="思源黑体 CN Bold"/>
              </a:rPr>
              <a:t>商场专柜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0984" y="303580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F1F24"/>
                </a:solidFill>
                <a:latin typeface="思源黑体 CN Bold"/>
                <a:ea typeface="思源黑体 CN Bold"/>
              </a:rPr>
              <a:t>无障碍试色台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303580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一台平板 + 一盏补光灯，视障顾客自己选色，柜姐只做补充。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08736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7C1CA6"/>
                </a:solidFill>
                <a:latin typeface="思源黑体 CN Bold"/>
                <a:ea typeface="思源黑体 CN Bold"/>
              </a:rPr>
              <a:t>随身携带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" y="40873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F1F24"/>
                </a:solidFill>
                <a:latin typeface="思源黑体 CN Bold"/>
                <a:ea typeface="思源黑体 CN Bold"/>
              </a:rPr>
              <a:t>出行美妆小助手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408736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手机打开网页即可：色卡库听一遍、出门前查一次妆。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5191" y="768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10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31520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F1F24"/>
                </a:solidFill>
                <a:latin typeface="思源黑体 CN Bold"/>
                <a:ea typeface="思源黑体 CN Bold"/>
              </a:rPr>
              <a:t>未来规划：从可运行原型，到门店里的一台机器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316736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每一步都有可验证的交付物。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37360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9264" y="3246120"/>
            <a:ext cx="8412480" cy="18288"/>
          </a:xfrm>
          <a:prstGeom prst="rect">
            <a:avLst/>
          </a:prstGeom>
          <a:solidFill>
            <a:srgbClr val="E3D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3163824"/>
            <a:ext cx="164592" cy="164592"/>
          </a:xfrm>
          <a:prstGeom prst="ellipse">
            <a:avLst/>
          </a:prstGeom>
          <a:solidFill>
            <a:srgbClr val="7C1CA6"/>
          </a:solidFill>
          <a:ln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6060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C42DD6"/>
                </a:solidFill>
                <a:latin typeface="思源黑体 CN Bold"/>
                <a:ea typeface="思源黑体 CN Bold"/>
              </a:rPr>
              <a:t>初赛 · 已完成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520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F1F24"/>
                </a:solidFill>
                <a:latin typeface="思源黑体 CN Bold"/>
                <a:ea typeface="思源黑体 CN Bold"/>
              </a:rPr>
              <a:t>可运行原型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3192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四模块 + 色卡库 + 离线问答，代码开源可复现</a:t>
            </a:r>
          </a:p>
        </p:txBody>
      </p:sp>
      <p:sp>
        <p:nvSpPr>
          <p:cNvPr id="10" name="Oval 9"/>
          <p:cNvSpPr/>
          <p:nvPr/>
        </p:nvSpPr>
        <p:spPr>
          <a:xfrm>
            <a:off x="5093208" y="3163824"/>
            <a:ext cx="164592" cy="164592"/>
          </a:xfrm>
          <a:prstGeom prst="ellipse">
            <a:avLst/>
          </a:prstGeom>
          <a:solidFill>
            <a:srgbClr val="FFFFFF"/>
          </a:solidFill>
          <a:ln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9784" y="26060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6B6B76"/>
                </a:solidFill>
                <a:latin typeface="思源黑体 CN Bold"/>
                <a:ea typeface="思源黑体 CN Bold"/>
              </a:rPr>
              <a:t>决赛 · 进行中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9784" y="3520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F1F24"/>
                </a:solidFill>
                <a:latin typeface="思源黑体 CN Bold"/>
                <a:ea typeface="思源黑体 CN Bold"/>
              </a:rPr>
              <a:t>硬件形态与成分解读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9784" y="393192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智能镜形态、触觉反馈编码、成分表 OCR</a:t>
            </a:r>
          </a:p>
        </p:txBody>
      </p:sp>
      <p:sp>
        <p:nvSpPr>
          <p:cNvPr id="14" name="Oval 13"/>
          <p:cNvSpPr/>
          <p:nvPr/>
        </p:nvSpPr>
        <p:spPr>
          <a:xfrm>
            <a:off x="9299448" y="3163824"/>
            <a:ext cx="164592" cy="164592"/>
          </a:xfrm>
          <a:prstGeom prst="ellipse">
            <a:avLst/>
          </a:prstGeom>
          <a:solidFill>
            <a:srgbClr val="FFFFFF"/>
          </a:solidFill>
          <a:ln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6024" y="26060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6B6B76"/>
                </a:solidFill>
                <a:latin typeface="思源黑体 CN Bold"/>
                <a:ea typeface="思源黑体 CN Bold"/>
              </a:rPr>
              <a:t>试点 · 6 个月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6024" y="3520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F1F24"/>
                </a:solidFill>
                <a:latin typeface="思源黑体 CN Bold"/>
                <a:ea typeface="思源黑体 CN Bold"/>
              </a:rPr>
              <a:t>1 家门店 · 100 位用户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6024" y="393192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与盲协共创测试，形成可用性报告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45191" y="7680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11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WPS 演示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思源黑体 CN Light</vt:lpstr>
      <vt:lpstr>思源黑体 CN Bold</vt:lpstr>
      <vt:lpstr>微软雅黑</vt:lpstr>
      <vt:lpstr>Arial Unicode MS</vt:lpstr>
      <vt:lpstr>等线 Light</vt:lpstr>
      <vt:lpstr>等线</vt:lpstr>
      <vt:lpstr>Office Theme</vt:lpstr>
      <vt:lpstr>PowerPoint 演示文稿</vt:lpstr>
      <vt:lpstr>PowerPoint 演示文稿</vt:lpstr>
      <vt:lpstr>PowerPoint 演示文稿</vt:lpstr>
    </vt:vector>
  </TitlesOfParts>
  <Company>LOREAL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ZONG Echo</dc:creator>
  <cp:lastModifiedBy>次鱼圆</cp:lastModifiedBy>
  <cp:revision>12</cp:revision>
  <dcterms:created xsi:type="dcterms:W3CDTF">2026-07-09T08:48:00Z</dcterms:created>
  <dcterms:modified xsi:type="dcterms:W3CDTF">2026-07-21T07:33:12Z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3b7177-c66c-4b22-a350-7ee86f9a1e74_Enabled">
    <vt:lpwstr>true</vt:lpwstr>
  </property>
  <property fmtid="{D5CDD505-2E9C-101B-9397-08002B2CF9AE}" pid="3" name="MSIP_Label_f43b7177-c66c-4b22-a350-7ee86f9a1e74_SetDate">
    <vt:lpwstr>2026-07-09T09:48:14Z</vt:lpwstr>
  </property>
  <property fmtid="{D5CDD505-2E9C-101B-9397-08002B2CF9AE}" pid="4" name="MSIP_Label_f43b7177-c66c-4b22-a350-7ee86f9a1e74_Method">
    <vt:lpwstr>Standard</vt:lpwstr>
  </property>
  <property fmtid="{D5CDD505-2E9C-101B-9397-08002B2CF9AE}" pid="5" name="MSIP_Label_f43b7177-c66c-4b22-a350-7ee86f9a1e74_Name">
    <vt:lpwstr>C1_Internal use</vt:lpwstr>
  </property>
  <property fmtid="{D5CDD505-2E9C-101B-9397-08002B2CF9AE}" pid="6" name="MSIP_Label_f43b7177-c66c-4b22-a350-7ee86f9a1e74_SiteId">
    <vt:lpwstr>e4e1abd9-eac7-4a71-ab52-da5c998aa7ba</vt:lpwstr>
  </property>
  <property fmtid="{D5CDD505-2E9C-101B-9397-08002B2CF9AE}" pid="7" name="MSIP_Label_f43b7177-c66c-4b22-a350-7ee86f9a1e74_ActionId">
    <vt:lpwstr>c71fc412-054f-4fbf-a9f7-cba62a6f36cf</vt:lpwstr>
  </property>
  <property fmtid="{D5CDD505-2E9C-101B-9397-08002B2CF9AE}" pid="8" name="MSIP_Label_f43b7177-c66c-4b22-a350-7ee86f9a1e74_ContentBits">
    <vt:lpwstr>2</vt:lpwstr>
  </property>
  <property fmtid="{D5CDD505-2E9C-101B-9397-08002B2CF9AE}" pid="9" name="MSIP_Label_f43b7177-c66c-4b22-a350-7ee86f9a1e74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C1 - Internal use</vt:lpwstr>
  </property>
  <property fmtid="{D5CDD505-2E9C-101B-9397-08002B2CF9AE}" pid="12" name="KSOProductBuildVer">
    <vt:lpwstr>2052-12.1.0.26381</vt:lpwstr>
  </property>
  <property fmtid="{D5CDD505-2E9C-101B-9397-08002B2CF9AE}" pid="13" name="ICV">
    <vt:lpwstr>30F01A577FCB47F4BE17C5D67A36E051_13</vt:lpwstr>
  </property>
</Properties>
</file>