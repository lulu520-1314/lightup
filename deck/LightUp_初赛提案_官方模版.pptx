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90" r:id="rId3"/>
    <p:sldId id="493" r:id="rId11"/>
    <p:sldId id="494" r:id="rId12"/>
    <p:sldId id="495" r:id="rId13"/>
    <p:sldId id="496" r:id="rId14"/>
    <p:sldId id="497" r:id="rId15"/>
    <p:sldId id="498" r:id="rId16"/>
    <p:sldId id="499" r:id="rId17"/>
    <p:sldId id="500" r:id="rId18"/>
    <p:sldId id="501" r:id="rId19"/>
    <p:sldId id="502" r:id="rId20"/>
    <p:sldId id="503" r:id="rId21"/>
    <p:sldId id="504" r:id="rId22"/>
    <p:sldId id="505" r:id="rId23"/>
    <p:sldId id="506" r:id="rId24"/>
    <p:sldId id="507" r:id="rId25"/>
    <p:sldId id="49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B8ABB3-3CD8-462B-964A-90C88F22725C}">
          <p14:sldIdLst>
            <p14:sldId id="490"/>
            <p14:sldId id="492"/>
            <p14:sldId id="491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B8D876-CF7A-FFDC-74D7-6CE3805B12FB}" name="ZONG Echo" initials="EZ" userId="S::echo2.zong@loreal.com::a4606cd9-98cc-4fff-8532-d79a801fde2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45FD"/>
    <a:srgbClr val="655EEB"/>
    <a:srgbClr val="6160EA"/>
    <a:srgbClr val="4C28E4"/>
    <a:srgbClr val="AEAAF2"/>
    <a:srgbClr val="C99AFE"/>
    <a:srgbClr val="B5A5F6"/>
    <a:srgbClr val="C79BFE"/>
    <a:srgbClr val="81AEEB"/>
    <a:srgbClr val="82A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71" autoAdjust="0"/>
    <p:restoredTop sz="94643"/>
  </p:normalViewPr>
  <p:slideViewPr>
    <p:cSldViewPr snapToGrid="0">
      <p:cViewPr varScale="1">
        <p:scale>
          <a:sx n="115" d="100"/>
          <a:sy n="115" d="100"/>
        </p:scale>
        <p:origin x="30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3784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microsoft.com/office/2018/10/relationships/authors" Target="author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1370D-ABEB-425B-ADF0-7925AE0D2D0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AA396-8F27-4FE3-92B6-74EEBE285A5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6" name="图片 5" descr="连标"/>
            <p:cNvPicPr>
              <a:picLocks noChangeAspect="1"/>
            </p:cNvPicPr>
            <p:nvPr/>
          </p:nvPicPr>
          <p:blipFill>
            <a:blip r:embed="rId3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8" name="图片 7" descr="有意思连标"/>
            <p:cNvPicPr>
              <a:picLocks noChangeAspect="1"/>
            </p:cNvPicPr>
            <p:nvPr/>
          </p:nvPicPr>
          <p:blipFill>
            <a:blip r:embed="rId4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9" name="图片 8" descr="有意思连标"/>
            <p:cNvPicPr>
              <a:picLocks noChangeAspect="1"/>
            </p:cNvPicPr>
            <p:nvPr userDrawn="1"/>
          </p:nvPicPr>
          <p:blipFill>
            <a:blip r:embed="rId4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0" name="图片 9" descr="连标"/>
            <p:cNvPicPr>
              <a:picLocks noChangeAspect="1"/>
            </p:cNvPicPr>
            <p:nvPr userDrawn="1"/>
          </p:nvPicPr>
          <p:blipFill>
            <a:blip r:embed="rId3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  <p:pic>
        <p:nvPicPr>
          <p:cNvPr id="2" name="图片 1" descr="未标题-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rcRect t="90094"/>
          <a:stretch>
            <a:fillRect/>
          </a:stretch>
        </p:blipFill>
        <p:spPr>
          <a:xfrm>
            <a:off x="0" y="6176963"/>
            <a:ext cx="12192000" cy="6791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pic>
        <p:nvPicPr>
          <p:cNvPr id="3" name="图片 2" descr="未标题-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  <p:grpSp>
        <p:nvGrpSpPr>
          <p:cNvPr id="11" name="组合 10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12" name="图片 11" descr="连标"/>
            <p:cNvPicPr>
              <a:picLocks noChangeAspect="1"/>
            </p:cNvPicPr>
            <p:nvPr/>
          </p:nvPicPr>
          <p:blipFill>
            <a:blip r:embed="rId4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13" name="图片 12" descr="有意思连标"/>
            <p:cNvPicPr>
              <a:picLocks noChangeAspect="1"/>
            </p:cNvPicPr>
            <p:nvPr/>
          </p:nvPicPr>
          <p:blipFill>
            <a:blip r:embed="rId5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15" name="图片 14" descr="有意思连标"/>
            <p:cNvPicPr>
              <a:picLocks noChangeAspect="1"/>
            </p:cNvPicPr>
            <p:nvPr userDrawn="1"/>
          </p:nvPicPr>
          <p:blipFill>
            <a:blip r:embed="rId5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6" name="图片 15" descr="连标"/>
            <p:cNvPicPr>
              <a:picLocks noChangeAspect="1"/>
            </p:cNvPicPr>
            <p:nvPr userDrawn="1"/>
          </p:nvPicPr>
          <p:blipFill>
            <a:blip r:embed="rId4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58FFC-3A76-4D99-AB9F-7999D757834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7A21B9-1903-450D-A962-157248E63012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5673725" y="6530340"/>
            <a:ext cx="8763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zh-CN" altLang="en-US" sz="900">
                <a:solidFill>
                  <a:srgbClr val="008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C1 - Internal use</a:t>
            </a:r>
            <a:endParaRPr lang="zh-CN" altLang="en-US" sz="900">
              <a:solidFill>
                <a:srgbClr val="008000">
                  <a:alpha val="50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28"/>
          <p:cNvSpPr/>
          <p:nvPr/>
        </p:nvSpPr>
        <p:spPr>
          <a:xfrm>
            <a:off x="1436862" y="4048271"/>
            <a:ext cx="8500425" cy="11914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67740">
              <a:lnSpc>
                <a:spcPct val="130000"/>
              </a:lnSpc>
            </a:pPr>
            <a:r>
              <a:rPr lang="zh-CN" altLang="en-US" sz="1500" dirty="0" b="0">
                <a:solidFill>
                  <a:srgbClr val="FFFFFF"/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面向视障人群的无障碍美妆助手：把口红色号翻译成声音与语言。</a:t>
            </a: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r>
              <a:rPr lang="zh-CN" altLang="en-US" sz="1200" dirty="0" b="0">
                <a:solidFill>
                  <a:srgbClr val="EFE2F7"/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在线体验 https://lulu520-1314.github.io/lightup/</a:t>
            </a: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</p:txBody>
      </p:sp>
      <p:sp>
        <p:nvSpPr>
          <p:cNvPr id="9" name="文本框 3"/>
          <p:cNvSpPr txBox="1"/>
          <p:nvPr/>
        </p:nvSpPr>
        <p:spPr>
          <a:xfrm>
            <a:off x="1477182" y="2034216"/>
            <a:ext cx="92779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lang="zh-CN" altLang="en-US" sz="4400" b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听见颜色</a:t>
            </a:r>
            <a:endParaRPr lang="zh-CN" altLang="en-US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  <a:p>
            <a:pPr defTabSz="967740">
              <a:lnSpc>
                <a:spcPct val="120000"/>
              </a:lnSpc>
            </a:pPr>
            <a:r>
              <a:rPr lang="zh-CN" altLang="en-US" sz="2000" b="0" dirty="0">
                <a:solidFill>
                  <a:srgbClr val="FFFFFF"/>
                </a:solidFill>
                <a:latin typeface="思源黑体 CN Light" panose="020B0800000000000000" charset="-122"/>
                <a:ea typeface="思源黑体 CN Light" panose="020B0800000000000000" charset="-122"/>
                <a:sym typeface="+mn-ea"/>
              </a:rPr>
              <a:t>LightUp 光引 · 无界体验家（主题二）· 队伍：翰林仕</a:t>
            </a:r>
            <a:endParaRPr lang="en-US" altLang="zh-CN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2"/>
          <p:cNvSpPr txBox="1"/>
          <p:nvPr/>
        </p:nvSpPr>
        <p:spPr>
          <a:xfrm>
            <a:off x="832060" y="826166"/>
            <a:ext cx="3507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lang="zh-CN" altLang="en-US" sz="4400" b="1" dirty="0">
                <a:solidFill>
                  <a:srgbClr val="3F3F3F">
                    <a:lumMod val="75000"/>
                  </a:srgbClr>
                </a:solidFill>
                <a:latin typeface="思源黑体 CN Bold" panose="020B0800000000000000" charset="-122"/>
                <a:ea typeface="思源黑体 CN Bold" panose="020B0800000000000000" charset="-122"/>
                <a:sym typeface="+mn-ea"/>
              </a:rPr>
              <a:t>内容页</a:t>
            </a:r>
            <a:endParaRPr lang="zh-CN" altLang="en-US" sz="4400" b="1" dirty="0">
              <a:solidFill>
                <a:srgbClr val="3F3F3F">
                  <a:lumMod val="75000"/>
                </a:srgbClr>
              </a:solidFill>
              <a:effectLst>
                <a:outerShdw blurRad="381000" algn="ctr" rotWithShape="0">
                  <a:prstClr val="black">
                    <a:alpha val="25000"/>
                  </a:prstClr>
                </a:outerShdw>
              </a:effectLst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</p:txBody>
      </p:sp>
      <p:sp>
        <p:nvSpPr>
          <p:cNvPr id="6" name="矩形 3"/>
          <p:cNvSpPr/>
          <p:nvPr/>
        </p:nvSpPr>
        <p:spPr>
          <a:xfrm>
            <a:off x="912683" y="1976422"/>
            <a:ext cx="6910418" cy="330837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67740">
              <a:lnSpc>
                <a:spcPct val="130000"/>
              </a:lnSpc>
            </a:pPr>
            <a:r>
              <a:rPr lang="zh-CN" altLang="en-US" sz="1400" dirty="0">
                <a:solidFill>
                  <a:srgbClr val="3F3F3F">
                    <a:lumMod val="75000"/>
                  </a:srgbClr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内容需包含作品背景、技术实现方式、作品使用场景、未来完善方向四大板块</a:t>
            </a:r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r>
              <a:rPr lang="zh-CN" altLang="en-US" sz="1400" dirty="0">
                <a:solidFill>
                  <a:srgbClr val="3F3F3F">
                    <a:lumMod val="75000"/>
                  </a:srgbClr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若有其他板块可酌情呈现</a:t>
            </a:r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/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 2"/>
          <p:cNvSpPr txBox="1"/>
          <p:nvPr/>
        </p:nvSpPr>
        <p:spPr>
          <a:xfrm>
            <a:off x="747" y="2659198"/>
            <a:ext cx="12190507" cy="186217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67740">
              <a:spcBef>
                <a:spcPts val="1060"/>
              </a:spcBef>
            </a:pPr>
            <a:r>
              <a:rPr lang="en-US" altLang="zh-CN" sz="44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让美，不依赖眼睛。</a:t>
            </a:r>
            <a:endParaRPr lang="zh-CN" altLang="en-US" sz="7200" b="1" i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cs typeface="思源黑体 CN Bold" panose="020B0800000000000000" charset="-122"/>
              <a:sym typeface="+mn-ea"/>
            </a:endParaRPr>
          </a:p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2E6FA"/>
                </a:solidFill>
                <a:latin typeface="思源黑体 CN Light"/>
                <a:ea typeface="思源黑体 CN Light"/>
              </a:rPr>
              <a:t>在线体验  https://lulu520-1314.github.io/lightup/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E6D2F2"/>
                </a:solidFill>
                <a:latin typeface="思源黑体 CN Light"/>
                <a:ea typeface="思源黑体 CN Light"/>
              </a:rPr>
              <a:t>源码  https://github.com/lulu520-1314/lightup</a:t>
            </a:r>
          </a:p>
        </p:txBody>
      </p:sp>
      <p:pic>
        <p:nvPicPr>
          <p:cNvPr id="6" name="Picture 5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5151" y="4389120"/>
            <a:ext cx="1005840" cy="1005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125151" y="4389120"/>
            <a:ext cx="1005840" cy="100584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42271" y="5486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F2E6FA"/>
                </a:solidFill>
                <a:latin typeface="思源黑体 CN Light"/>
                <a:ea typeface="思源黑体 CN Light"/>
              </a:rPr>
              <a:t>扫码在线体验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她们买口红时，是在赌一个看不见的答案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美妆是社交与就业的“隐形门槛”，而这道门槛对视障人群几乎不可跨越。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892807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206654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地域局限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1F1F24"/>
                </a:solidFill>
                <a:latin typeface="思源黑体 CN Bold"/>
                <a:ea typeface="思源黑体 CN Bold"/>
              </a:rPr>
              <a:t>小镇没有专柜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79806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试色只能靠网购盲猜，买错就闲置。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892807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206654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认知局限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1F1F24"/>
                </a:solidFill>
                <a:latin typeface="思源黑体 CN Bold"/>
                <a:ea typeface="思源黑体 CN Bold"/>
              </a:rPr>
              <a:t>长辈看不懂成分表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79806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“烟酰胺”“视黄醇”像天书，不敢用。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892807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06654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感官局限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1F1F24"/>
                </a:solidFill>
                <a:latin typeface="思源黑体 CN Bold"/>
                <a:ea typeface="思源黑体 CN Bold"/>
              </a:rPr>
              <a:t>分不清口红色号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1" y="279806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“正红”和“豆沙”在她们那里是同一个词。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98678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6B76"/>
                </a:solidFill>
                <a:latin typeface="思源黑体 CN Light"/>
                <a:ea typeface="思源黑体 CN Light"/>
              </a:rPr>
              <a:t>中国视力残疾人群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4279392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>
                <a:solidFill>
                  <a:srgbClr val="7C1CA6"/>
                </a:solidFill>
                <a:latin typeface="思源黑体 CN Bold"/>
                <a:ea typeface="思源黑体 CN Bold"/>
              </a:rPr>
              <a:t>1700万+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6744" y="4425696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其中女性约占一半，正是美妆的核心用户；她们的需求长期被当作“不需要”。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510235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数据口径：中国残联 / 世界卫生组织公开资料整理，用于说明需求规模，非精确统计。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02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买前、买时、买后，每一步都在失效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把一次购买拆开看：现有的数字化服务，每一步都只服务“看得见的人”。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865376"/>
            <a:ext cx="1115568" cy="420624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6596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7C1CA6"/>
                </a:solidFill>
                <a:latin typeface="思源黑体 CN Bold"/>
                <a:ea typeface="思源黑体 CN Bold"/>
              </a:rPr>
              <a:t>买前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03704" y="18470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不知道买哪支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3704" y="217627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色号靠描述，图片靠想象；问客服也只能得到“很显白”。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1424" y="192024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7C1CA6"/>
                </a:solidFill>
                <a:latin typeface="思源黑体 CN Light"/>
                <a:ea typeface="思源黑体 CN Light"/>
              </a:rPr>
              <a:t>需要的不是参数，而是“这支和那支差在哪”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" y="3127248"/>
            <a:ext cx="1115568" cy="420624"/>
          </a:xfrm>
          <a:prstGeom prst="roundRect">
            <a:avLst>
              <a:gd name="adj" fmla="val 6000"/>
            </a:avLst>
          </a:prstGeom>
          <a:solidFill>
            <a:srgbClr val="7C1C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3227832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思源黑体 CN Bold"/>
                <a:ea typeface="思源黑体 CN Bold"/>
              </a:rPr>
              <a:t>买时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3704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涂上不知道对不对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3704" y="343814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没有镜子可以判断，只能凭手感，常常涂出界。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21424" y="3182112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7C1CA6"/>
                </a:solidFill>
                <a:latin typeface="思源黑体 CN Light"/>
                <a:ea typeface="思源黑体 CN Light"/>
              </a:rPr>
              <a:t>需要的是一次可复核的自检：偏了多少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4389120"/>
            <a:ext cx="1115568" cy="420624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" y="4489704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7C1CA6"/>
                </a:solidFill>
                <a:latin typeface="思源黑体 CN Bold"/>
                <a:ea typeface="思源黑体 CN Bold"/>
              </a:rPr>
              <a:t>买后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03704" y="437083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换个光线就说不准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03704" y="4700016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同一支口红在不同光线下看起来完全不同。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4443983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7C1CA6"/>
                </a:solidFill>
                <a:latin typeface="思源黑体 CN Light"/>
                <a:ea typeface="思源黑体 CN Light"/>
              </a:rPr>
              <a:t>需要的是与“颜色本身”比，而不是与画面比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03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组件都成熟，场景是空的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我们检索了开源社区：技术不是瓶颈，缺的是“把它翻译成她们能用的形式”。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9202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200" b="1">
                <a:solidFill>
                  <a:srgbClr val="7C1CA6"/>
                </a:solidFill>
                <a:latin typeface="思源黑体 CN Bold"/>
                <a:ea typeface="思源黑体 CN Bold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77977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视障 × 美妆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3108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几乎没有开源项目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9202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200" b="1">
                <a:solidFill>
                  <a:srgbClr val="7C1CA6"/>
                </a:solidFill>
                <a:latin typeface="思源黑体 CN Bold"/>
                <a:ea typeface="思源黑体 CN Bold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3672" y="277977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成分识别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3108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组件成熟，可直接用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202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200" b="1">
                <a:solidFill>
                  <a:srgbClr val="7C1CA6"/>
                </a:solidFill>
                <a:latin typeface="思源黑体 CN Bold"/>
                <a:ea typeface="思源黑体 CN Bold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77977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声音化无障碍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108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范式成熟，可直接借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" y="4133087"/>
            <a:ext cx="10515600" cy="10972"/>
          </a:xfrm>
          <a:prstGeom prst="rect">
            <a:avLst/>
          </a:prstGeom>
          <a:solidFill>
            <a:srgbClr val="E3D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" y="434340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3A3A42"/>
                </a:solidFill>
                <a:latin typeface="思源黑体 CN Light"/>
                <a:ea typeface="思源黑体 CN Light"/>
              </a:rPr>
              <a:t>结论：把视觉、色差、声化这些现成能力接起来，只补“美妆语境下的翻译层”，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3A3A42"/>
                </a:solidFill>
                <a:latin typeface="思源黑体 CN Light"/>
                <a:ea typeface="思源黑体 CN Light"/>
              </a:rPr>
              <a:t>就能做出别人没做过的东西——门槛在体验设计，不在算力。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04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核心创意：把颜色翻译成一段可记忆的旋律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现有 AI 都在“描述世界”，视障者需要的却是“能记住、能复述”的判断依据。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792224"/>
            <a:ext cx="10515600" cy="457200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6537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色相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66544" y="186537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五声音阶 · 两个八度（10 个音位）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6537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任何颜色都有唯一音高位置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59152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冷暖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35915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大三和弦 / 小三和弦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3591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听一秒就知道偏橘还是偏莓果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2779776"/>
            <a:ext cx="10515600" cy="457200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852928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明度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4" y="285292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音量 + 八度微调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85292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深色沉、浅色亮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346704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饱和度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4" y="334670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正弦 → 三角 → 锯齿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334670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越艳，泛音越亮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" y="4297680"/>
            <a:ext cx="932688" cy="219456"/>
          </a:xfrm>
          <a:prstGeom prst="rect">
            <a:avLst/>
          </a:prstGeom>
          <a:solidFill>
            <a:srgbClr val="EA41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7088" y="4297680"/>
            <a:ext cx="932688" cy="219456"/>
          </a:xfrm>
          <a:prstGeom prst="rect">
            <a:avLst/>
          </a:prstGeom>
          <a:solidFill>
            <a:srgbClr val="EAA7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7088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62072" y="4297680"/>
            <a:ext cx="932688" cy="219456"/>
          </a:xfrm>
          <a:prstGeom prst="rect">
            <a:avLst/>
          </a:prstGeom>
          <a:solidFill>
            <a:srgbClr val="C8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4297680"/>
            <a:ext cx="932688" cy="219456"/>
          </a:xfrm>
          <a:prstGeom prst="rect">
            <a:avLst/>
          </a:prstGeom>
          <a:solidFill>
            <a:srgbClr val="63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77056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4297680"/>
            <a:ext cx="932688" cy="219456"/>
          </a:xfrm>
          <a:prstGeom prst="rect">
            <a:avLst/>
          </a:prstGeom>
          <a:solidFill>
            <a:srgbClr val="41EA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7024" y="4297680"/>
            <a:ext cx="932688" cy="219456"/>
          </a:xfrm>
          <a:prstGeom prst="rect">
            <a:avLst/>
          </a:prstGeom>
          <a:solidFill>
            <a:srgbClr val="41EA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07024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宫′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22008" y="4297680"/>
            <a:ext cx="932688" cy="219456"/>
          </a:xfrm>
          <a:prstGeom prst="rect">
            <a:avLst/>
          </a:prstGeom>
          <a:solidFill>
            <a:srgbClr val="4185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22008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商′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992" y="4297680"/>
            <a:ext cx="932688" cy="219456"/>
          </a:xfrm>
          <a:prstGeom prst="rect">
            <a:avLst/>
          </a:prstGeom>
          <a:solidFill>
            <a:srgbClr val="63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6992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角′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51976" y="4297680"/>
            <a:ext cx="932688" cy="219456"/>
          </a:xfrm>
          <a:prstGeom prst="rect">
            <a:avLst/>
          </a:prstGeom>
          <a:solidFill>
            <a:srgbClr val="C8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51976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徵′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66960" y="4297680"/>
            <a:ext cx="932688" cy="219456"/>
          </a:xfrm>
          <a:prstGeom prst="rect">
            <a:avLst/>
          </a:prstGeom>
          <a:solidFill>
            <a:srgbClr val="EA41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60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羽′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4882896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360° 色相被切成 10 个音位，每个音位对应一段固定旋律——颜色从此可以被“背下来”。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" y="53218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7C1CA6"/>
                </a:solidFill>
                <a:latin typeface="思源黑体 CN Bold"/>
                <a:ea typeface="思源黑体 CN Bold"/>
              </a:rPr>
              <a:t>不是“把颜色说出来”，而是“让颜色被记住”。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05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1F1F24"/>
                </a:solidFill>
                <a:latin typeface="思源黑体 CN Bold"/>
                <a:ea typeface="思源黑体 CN Bold"/>
              </a:rPr>
              <a:t>一条完整链路：从“不知道买哪支”到“涂完确认没出界”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43584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四个模块不是四个孤立功能，而是一次购买的前、中、后三段。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664208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选色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读色 + 诊肤色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读到这支是什么色，也读到自己的肤色适合什么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1256" y="288950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958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试色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试色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在唇形上直接看效果，一秒换一支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288950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验妆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查妆容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涂完再测一次，与刚才记住的目标色比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288950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454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复述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语音 + 旋律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每一步都能“听”到结论，也能再听一次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" y="4663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每个模块都能单独使用，串起来才是一条“闭着眼也能完成”的动线。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接下来四页，逐个展示它们真实运行的样子。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06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01  读色：点哪读哪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把口红对准圆框，或点击画面任意位置，立刻得到色号与判断。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0-read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任意位置取样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点击画面即可；圆框随点移动，3–90 px 可调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放大镜微调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右下角实时显示取样区域，方向键可逐像素挪动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三层结果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色号 + 冷暖 + ΔE 偏差 + 最接近的 3 支色号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双通道输出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旋律 + 语音播报，可只听不看，也能再听一次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ΔE 6.4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判定“明显接近”，对应色卡 复古红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对应无障碍：整个过程不需要看见屏幕；点击位置可由他人协助一次，之后可重复。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07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02  诊肤色：先知道“我是谁”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两颊 + 额头三点取样，避开头发与阴影，输出肤色与适配色。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82-skin-enriched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三点中位取样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左颊 / 右颊 / 额头各取一次，取中位数抵抗发丝遮挡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两个核心指标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ITA° 深浅分级 + 冷暖倾向（暖 / 中性 / 冷）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推荐而非限定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按肤色给 3 支“更稳妥”的色号，仍可自由选择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直接接力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选中推荐色可一键进入试色，不用再读一次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ITA 66°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非常浅 · 暖调，推荐 3 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肤色判断比“白/黄/黑”细一档：ITA° 能区分“偏白”和“偏黄”，推荐才不至于拍脑袋。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08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03  查妆容：涂完自己验一遍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先记住目标色，涂完再测一次，比的是颜色本身，不是你当下的画面。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1-check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记住这个色号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读色后一键存入目标色，后续比对都以它为准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再测一次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对着镜头露出嘴唇，重新取唇部颜色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偏差分级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几乎一致 / 明显接近 / 有差别 / 偏差较大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给下一步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偏差大就提示补涂方向，而不是只报一个数字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ΔE 6.4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与目标色“明显接近”，建议补涂一次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这是“社会与企业责任”最实在的一环：它让一次失败的化妆可以被自己发现并修正。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09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04  试色：先看见，再决定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选一支色号，直接涂在唇形上看效果，不满意一秒换一支。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80-tryon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38 支色卡库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方向键网格浏览，点一下就试；可按冷暖 / 深浅筛选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真实质感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只替换唇部的色相与饱和度，保留唇纹与高光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快速对比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连续换色，比“想象这支涂上去什么样”靠谱得多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可复述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试色同时播报色号与冷暖，视障用户同样能选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38 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覆盖正红 / 豆沙 / 砖红 / 裸粉等常用色系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试色不依赖购买：先在家里看清效果，能显著降低“买错闲置”的浪费。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10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界面一览：能用的不止四个模块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这些页面都在同一个应用里，README 与仓库中都有对应截图。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ui-library.png"/>
          <p:cNvPicPr>
            <a:picLocks noChangeAspect="1"/>
          </p:cNvPicPr>
          <p:nvPr/>
        </p:nvPicPr>
        <p:blipFill>
          <a:blip r:embed="rId2"/>
          <a:srcRect t="10000" b="10000"/>
          <a:stretch>
            <a:fillRect/>
          </a:stretch>
        </p:blipFill>
        <p:spPr>
          <a:xfrm>
            <a:off x="832104" y="1865376"/>
            <a:ext cx="3401568" cy="17007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865376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3639312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色卡库：38 支，可按冷暖筛选、逐支试听</a:t>
            </a:r>
          </a:p>
        </p:txBody>
      </p:sp>
      <p:pic>
        <p:nvPicPr>
          <p:cNvPr id="8" name="Picture 7" descr="ui-tip.png"/>
          <p:cNvPicPr>
            <a:picLocks noChangeAspect="1"/>
          </p:cNvPicPr>
          <p:nvPr/>
        </p:nvPicPr>
        <p:blipFill>
          <a:blip r:embed="rId3"/>
          <a:srcRect t="10000" b="10000"/>
          <a:stretch>
            <a:fillRect/>
          </a:stretch>
        </p:blipFill>
        <p:spPr>
          <a:xfrm>
            <a:off x="4379976" y="1865376"/>
            <a:ext cx="3401568" cy="17007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79976" y="1865376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3639312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指标解释：点任意数字，弹出通俗说明</a:t>
            </a:r>
          </a:p>
        </p:txBody>
      </p:sp>
      <p:pic>
        <p:nvPicPr>
          <p:cNvPr id="11" name="Picture 10" descr="ui-qa.png"/>
          <p:cNvPicPr>
            <a:picLocks noChangeAspect="1"/>
          </p:cNvPicPr>
          <p:nvPr/>
        </p:nvPicPr>
        <p:blipFill>
          <a:blip r:embed="rId4"/>
          <a:srcRect t="10000" b="10000"/>
          <a:stretch>
            <a:fillRect/>
          </a:stretch>
        </p:blipFill>
        <p:spPr>
          <a:xfrm>
            <a:off x="7927848" y="1865376"/>
            <a:ext cx="3401568" cy="170078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27848" y="1865376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7848" y="3639312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问一问：离线回答“这个色适合我吗”</a:t>
            </a:r>
          </a:p>
        </p:txBody>
      </p:sp>
      <p:pic>
        <p:nvPicPr>
          <p:cNvPr id="14" name="Picture 13" descr="ui-calib.png"/>
          <p:cNvPicPr>
            <a:picLocks noChangeAspect="1"/>
          </p:cNvPicPr>
          <p:nvPr/>
        </p:nvPicPr>
        <p:blipFill>
          <a:blip r:embed="rId5"/>
          <a:srcRect t="10000" b="10000"/>
          <a:stretch>
            <a:fillRect/>
          </a:stretch>
        </p:blipFill>
        <p:spPr>
          <a:xfrm>
            <a:off x="832104" y="4114800"/>
            <a:ext cx="3401568" cy="170078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32104" y="4114800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" y="5888736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白平衡：对着白纸点一下，纠正偏色</a:t>
            </a:r>
          </a:p>
        </p:txBody>
      </p:sp>
      <p:pic>
        <p:nvPicPr>
          <p:cNvPr id="17" name="Picture 16" descr="ui-loupe.png"/>
          <p:cNvPicPr>
            <a:picLocks noChangeAspect="1"/>
          </p:cNvPicPr>
          <p:nvPr/>
        </p:nvPicPr>
        <p:blipFill>
          <a:blip r:embed="rId6"/>
          <a:srcRect t="10000" b="10000"/>
          <a:stretch>
            <a:fillRect/>
          </a:stretch>
        </p:blipFill>
        <p:spPr>
          <a:xfrm>
            <a:off x="4379976" y="4114800"/>
            <a:ext cx="3401568" cy="170078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79976" y="4114800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5888736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放大镜：取样区域实时放大，可逐像素微调</a:t>
            </a:r>
          </a:p>
        </p:txBody>
      </p:sp>
      <p:pic>
        <p:nvPicPr>
          <p:cNvPr id="20" name="Picture 19" descr="ui-default.png"/>
          <p:cNvPicPr>
            <a:picLocks noChangeAspect="1"/>
          </p:cNvPicPr>
          <p:nvPr/>
        </p:nvPicPr>
        <p:blipFill>
          <a:blip r:embed="rId7"/>
          <a:srcRect t="10000" b="10000"/>
          <a:stretch>
            <a:fillRect/>
          </a:stretch>
        </p:blipFill>
        <p:spPr>
          <a:xfrm>
            <a:off x="7927848" y="4114800"/>
            <a:ext cx="3401568" cy="170078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927848" y="4114800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7848" y="5888736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默认界面：示例照片开箱即读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11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技术方案：一条跑在浏览器里的本地流水线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模型 3.6 MB，随页面下载；首屏不等它，切到人脸功能时才加载。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摄像头 / 图片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478 点人脸网格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采样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唇 / 颊 / 中心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7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7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色彩科学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7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CIELAB · ΔE · ITA°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5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3495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3495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输出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3495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声化 + 语音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" y="4096512"/>
            <a:ext cx="1289304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" y="4169663"/>
            <a:ext cx="1289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全本地推理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4096512"/>
            <a:ext cx="1289304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0" y="4169663"/>
            <a:ext cx="1289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无画面外传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39896" y="4096512"/>
            <a:ext cx="1463040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9896" y="4169663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无需 GPU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67528" y="4096512"/>
            <a:ext cx="1115568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4169663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断网可用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47688" y="4096512"/>
            <a:ext cx="1810512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4169663"/>
            <a:ext cx="1810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首屏 55 KB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464515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关键取舍：不训练模型，只做“翻译层”。赛题也明确不需要微调大模型，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真正的门槛在交互设计，而不在算力。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" y="54406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源码与运行说明：https://github.com/lulu520-1314/lightup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12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技术方案：让“偏一点”和“差很多”分得开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同一个颜色在不同光线下会变，所以不能直接比 RGB。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773936"/>
            <a:ext cx="10515600" cy="768096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8653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① 在 Lab 空间里比色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58184" y="1865376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不直接比 RGB：先把 sRGB 换算成 CIELAB，再用 CIEDE2000 算色差。ΔE&lt;2 几乎看不出，&gt;10 一眼不同。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0662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② 用 ITA° 判深浅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8184" y="2706624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ITA° = atan((L*−50) / b*)，比“白/黄/黑”细，能区分偏白与偏黄。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" y="3456432"/>
            <a:ext cx="10515600" cy="768096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547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③ 先做白平衡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3547872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线性光下按 von Kries 校正，抵消冷光暖光，避免同一支口红读出两个色号。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3891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④ 取样要稳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8184" y="4389120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剔除高光、多像素取中位、唇部按彩度加权——头发与牙齿不干扰。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539496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结果：同一支口红，在偏冷 / 偏暖 / 偏暗的三种光线下，判定保持一致。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13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实测：这些数字可以复现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仓库里的自检脚本跑一遍即可得到下表，不是估计值。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792224"/>
            <a:ext cx="10515600" cy="438912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8653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人脸网格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8653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478 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5704" y="186537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浏览器内推理，GPU 委托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唇色识别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3864" y="23591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复古红 · ΔE 6.4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5704" y="23591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判定“明显接近”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2779776"/>
            <a:ext cx="10515600" cy="438912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肤色判定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8529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ITA 66° · 暖调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5704" y="285292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三点中位取样，避开头发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取色准确度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3467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31% → 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5704" y="334670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模拟偏色 + 高光，13 支色卡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" y="3767328"/>
            <a:ext cx="10515600" cy="438912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38404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还原精度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840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ΔE 6.67 → 3.46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5704" y="3840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平均色差，开启白平衡后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3342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端到端自检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334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6 套 · 0 报错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5704" y="433425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文案 / 交互 / 试色 / 色卡库 / 色彩 / 布局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" y="5193792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3A3A42"/>
                </a:solidFill>
                <a:latin typeface="思源黑体 CN Light"/>
                <a:ea typeface="思源黑体 CN Light"/>
              </a:rPr>
              <a:t>限制也写在明处：深肤色样本不足，还需与盲协共创、补充人群测试。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14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落地价值：一件对三方都成立的事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对企业社会责任来说，它不是宣传物料，而是能被用户真正用起来的产品。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865376"/>
            <a:ext cx="54864" cy="111556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8653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对用户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6584" y="184708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1F1F24"/>
                </a:solidFill>
                <a:latin typeface="思源黑体 CN Bold"/>
                <a:ea typeface="思源黑体 CN Bold"/>
              </a:rPr>
              <a:t>把“能不能买对”变成可判断的事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9984" y="1847088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不用再赌运气，也不用每次都麻烦别人；独立完成一次选择，是尊严问题。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" y="3145536"/>
            <a:ext cx="54864" cy="111556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1455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对品牌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6584" y="312724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1F1F24"/>
                </a:solidFill>
                <a:latin typeface="思源黑体 CN Bold"/>
                <a:ea typeface="思源黑体 CN Bold"/>
              </a:rPr>
              <a:t>一个长期缺席的高价值客群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3127248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无障碍不是成本而是增量：1700 万视障人群背后的家庭决策链，同样在买美妆。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" y="4425696"/>
            <a:ext cx="54864" cy="111556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4256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对社会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4407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1F1F24"/>
                </a:solidFill>
                <a:latin typeface="思源黑体 CN Bold"/>
                <a:ea typeface="思源黑体 CN Bold"/>
              </a:rPr>
              <a:t>把“无障碍”从口号变成可复制的样板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9984" y="4407408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同一套声化与色差能力，可迁移到衣物配色、药品识别、食品保质期等场景。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15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未来规划：三步，每一步都有交付物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不画大饼：先证明可用，再证明可复制。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9264" y="3108960"/>
            <a:ext cx="6812280" cy="18288"/>
          </a:xfrm>
          <a:prstGeom prst="rect">
            <a:avLst/>
          </a:prstGeom>
          <a:solidFill>
            <a:srgbClr val="E3D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3026664"/>
            <a:ext cx="164592" cy="164592"/>
          </a:xfrm>
          <a:prstGeom prst="ellipse">
            <a:avLst/>
          </a:prstGeom>
          <a:solidFill>
            <a:srgbClr val="7C1CA6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已完成 · 初赛版本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346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F1F24"/>
                </a:solidFill>
                <a:latin typeface="思源黑体 CN Bold"/>
                <a:ea typeface="思源黑体 CN Bold"/>
              </a:rPr>
              <a:t>可运行原型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40480"/>
            <a:ext cx="3127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四模块 + 色卡库 + 离线问答，开源可演示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3026664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9976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6B6B76"/>
                </a:solidFill>
                <a:latin typeface="思源黑体 CN Bold"/>
                <a:ea typeface="思源黑体 CN Bold"/>
              </a:rPr>
              <a:t>3 个月 · 用户共创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3346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F1F24"/>
                </a:solidFill>
                <a:latin typeface="思源黑体 CN Bold"/>
                <a:ea typeface="思源黑体 CN Bold"/>
              </a:rPr>
              <a:t>邀请盲人用户参与体验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9976" y="3840480"/>
            <a:ext cx="3127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真实任务测试，形成可用性报告与问题清单</a:t>
            </a:r>
          </a:p>
        </p:txBody>
      </p:sp>
      <p:sp>
        <p:nvSpPr>
          <p:cNvPr id="14" name="Oval 13"/>
          <p:cNvSpPr/>
          <p:nvPr/>
        </p:nvSpPr>
        <p:spPr>
          <a:xfrm>
            <a:off x="7799831" y="3026664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6B6B76"/>
                </a:solidFill>
                <a:latin typeface="思源黑体 CN Bold"/>
                <a:ea typeface="思源黑体 CN Bold"/>
              </a:rPr>
              <a:t>6–12 个月 · 门店试点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3346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F1F24"/>
                </a:solidFill>
                <a:latin typeface="思源黑体 CN Bold"/>
                <a:ea typeface="思源黑体 CN Bold"/>
              </a:rPr>
              <a:t>1 家门店 · 100 位用户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7" y="3840480"/>
            <a:ext cx="3127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专柜平板形态落地，沉淀服务流程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4956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3A3A42"/>
                </a:solidFill>
                <a:latin typeface="思源黑体 CN Light"/>
                <a:ea typeface="思源黑体 CN Light"/>
              </a:rPr>
              <a:t>长期：把这套“颜色 → 声音”的能力开放成组件，让更多无障碍产品直接接入。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16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WPS 演示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思源黑体 CN Light</vt:lpstr>
      <vt:lpstr>思源黑体 CN Bold</vt:lpstr>
      <vt:lpstr>微软雅黑</vt:lpstr>
      <vt:lpstr>Arial Unicode MS</vt:lpstr>
      <vt:lpstr>等线 Light</vt:lpstr>
      <vt:lpstr>等线</vt:lpstr>
      <vt:lpstr>Office Theme</vt:lpstr>
      <vt:lpstr>PowerPoint 演示文稿</vt:lpstr>
      <vt:lpstr>PowerPoint 演示文稿</vt:lpstr>
      <vt:lpstr>PowerPoint 演示文稿</vt:lpstr>
    </vt:vector>
  </TitlesOfParts>
  <Company>LOREAL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ZONG Echo</dc:creator>
  <cp:lastModifiedBy>次鱼圆</cp:lastModifiedBy>
  <cp:revision>12</cp:revision>
  <dcterms:created xsi:type="dcterms:W3CDTF">2026-07-09T08:48:00Z</dcterms:created>
  <dcterms:modified xsi:type="dcterms:W3CDTF">2026-07-21T07:33:12Z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3b7177-c66c-4b22-a350-7ee86f9a1e74_Enabled">
    <vt:lpwstr>true</vt:lpwstr>
  </property>
  <property fmtid="{D5CDD505-2E9C-101B-9397-08002B2CF9AE}" pid="3" name="MSIP_Label_f43b7177-c66c-4b22-a350-7ee86f9a1e74_SetDate">
    <vt:lpwstr>2026-07-09T09:48:14Z</vt:lpwstr>
  </property>
  <property fmtid="{D5CDD505-2E9C-101B-9397-08002B2CF9AE}" pid="4" name="MSIP_Label_f43b7177-c66c-4b22-a350-7ee86f9a1e74_Method">
    <vt:lpwstr>Standard</vt:lpwstr>
  </property>
  <property fmtid="{D5CDD505-2E9C-101B-9397-08002B2CF9AE}" pid="5" name="MSIP_Label_f43b7177-c66c-4b22-a350-7ee86f9a1e74_Name">
    <vt:lpwstr>C1_Internal use</vt:lpwstr>
  </property>
  <property fmtid="{D5CDD505-2E9C-101B-9397-08002B2CF9AE}" pid="6" name="MSIP_Label_f43b7177-c66c-4b22-a350-7ee86f9a1e74_SiteId">
    <vt:lpwstr>e4e1abd9-eac7-4a71-ab52-da5c998aa7ba</vt:lpwstr>
  </property>
  <property fmtid="{D5CDD505-2E9C-101B-9397-08002B2CF9AE}" pid="7" name="MSIP_Label_f43b7177-c66c-4b22-a350-7ee86f9a1e74_ActionId">
    <vt:lpwstr>c71fc412-054f-4fbf-a9f7-cba62a6f36cf</vt:lpwstr>
  </property>
  <property fmtid="{D5CDD505-2E9C-101B-9397-08002B2CF9AE}" pid="8" name="MSIP_Label_f43b7177-c66c-4b22-a350-7ee86f9a1e74_ContentBits">
    <vt:lpwstr>2</vt:lpwstr>
  </property>
  <property fmtid="{D5CDD505-2E9C-101B-9397-08002B2CF9AE}" pid="9" name="MSIP_Label_f43b7177-c66c-4b22-a350-7ee86f9a1e74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C1 - Internal use</vt:lpwstr>
  </property>
  <property fmtid="{D5CDD505-2E9C-101B-9397-08002B2CF9AE}" pid="12" name="KSOProductBuildVer">
    <vt:lpwstr>2052-12.1.0.26381</vt:lpwstr>
  </property>
  <property fmtid="{D5CDD505-2E9C-101B-9397-08002B2CF9AE}" pid="13" name="ICV">
    <vt:lpwstr>30F01A577FCB47F4BE17C5D67A36E051_13</vt:lpwstr>
  </property>
</Properties>
</file>