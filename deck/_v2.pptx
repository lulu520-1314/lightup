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490" r:id="rId3"/>
    <p:sldId id="493" r:id="rId11"/>
    <p:sldId id="494" r:id="rId12"/>
    <p:sldId id="495" r:id="rId13"/>
    <p:sldId id="496" r:id="rId14"/>
    <p:sldId id="497" r:id="rId15"/>
    <p:sldId id="498" r:id="rId16"/>
    <p:sldId id="499" r:id="rId17"/>
    <p:sldId id="500" r:id="rId18"/>
    <p:sldId id="501" r:id="rId19"/>
    <p:sldId id="502" r:id="rId20"/>
    <p:sldId id="503" r:id="rId21"/>
    <p:sldId id="504" r:id="rId22"/>
    <p:sldId id="505" r:id="rId23"/>
    <p:sldId id="506" r:id="rId24"/>
    <p:sldId id="507" r:id="rId25"/>
    <p:sldId id="491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7B8ABB3-3CD8-462B-964A-90C88F22725C}">
          <p14:sldIdLst>
            <p14:sldId id="490"/>
            <p14:sldId id="492"/>
            <p14:sldId id="491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FB8D876-CF7A-FFDC-74D7-6CE3805B12FB}" name="ZONG Echo" initials="EZ" userId="S::echo2.zong@loreal.com::a4606cd9-98cc-4fff-8532-d79a801fde2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45FD"/>
    <a:srgbClr val="655EEB"/>
    <a:srgbClr val="6160EA"/>
    <a:srgbClr val="4C28E4"/>
    <a:srgbClr val="AEAAF2"/>
    <a:srgbClr val="C99AFE"/>
    <a:srgbClr val="B5A5F6"/>
    <a:srgbClr val="C79BFE"/>
    <a:srgbClr val="81AEEB"/>
    <a:srgbClr val="82AF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71" autoAdjust="0"/>
    <p:restoredTop sz="94643"/>
  </p:normalViewPr>
  <p:slideViewPr>
    <p:cSldViewPr snapToGrid="0">
      <p:cViewPr varScale="1">
        <p:scale>
          <a:sx n="115" d="100"/>
          <a:sy n="115" d="100"/>
        </p:scale>
        <p:origin x="304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2" d="100"/>
          <a:sy n="92" d="100"/>
        </p:scale>
        <p:origin x="3784" y="17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ableStyles" Target="tableStyles.xml"/><Relationship Id="rId10" Type="http://schemas.microsoft.com/office/2018/10/relationships/authors" Target="authors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11370D-ABEB-425B-ADF0-7925AE0D2D0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8AA396-8F27-4FE3-92B6-74EEBE285A5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6095"/>
          </a:xfrm>
          <a:prstGeom prst="rect">
            <a:avLst/>
          </a:prstGeom>
        </p:spPr>
      </p:pic>
      <p:grpSp>
        <p:nvGrpSpPr>
          <p:cNvPr id="5" name="组合 4"/>
          <p:cNvGrpSpPr/>
          <p:nvPr userDrawn="1"/>
        </p:nvGrpSpPr>
        <p:grpSpPr>
          <a:xfrm>
            <a:off x="7030548" y="109257"/>
            <a:ext cx="4921967" cy="1038173"/>
            <a:chOff x="2175519" y="2264628"/>
            <a:chExt cx="4921967" cy="1038173"/>
          </a:xfrm>
        </p:grpSpPr>
        <p:pic>
          <p:nvPicPr>
            <p:cNvPr id="6" name="图片 5" descr="连标"/>
            <p:cNvPicPr>
              <a:picLocks noChangeAspect="1"/>
            </p:cNvPicPr>
            <p:nvPr/>
          </p:nvPicPr>
          <p:blipFill>
            <a:blip r:embed="rId3"/>
            <a:srcRect r="64013"/>
            <a:stretch>
              <a:fillRect/>
            </a:stretch>
          </p:blipFill>
          <p:spPr>
            <a:xfrm>
              <a:off x="2175519" y="2362218"/>
              <a:ext cx="1528881" cy="932900"/>
            </a:xfrm>
            <a:prstGeom prst="rect">
              <a:avLst/>
            </a:prstGeom>
          </p:spPr>
        </p:pic>
        <p:pic>
          <p:nvPicPr>
            <p:cNvPr id="8" name="图片 7" descr="有意思连标"/>
            <p:cNvPicPr>
              <a:picLocks noChangeAspect="1"/>
            </p:cNvPicPr>
            <p:nvPr/>
          </p:nvPicPr>
          <p:blipFill>
            <a:blip r:embed="rId4"/>
            <a:srcRect r="55699"/>
            <a:stretch>
              <a:fillRect/>
            </a:stretch>
          </p:blipFill>
          <p:spPr>
            <a:xfrm>
              <a:off x="3468117" y="2264628"/>
              <a:ext cx="1528882" cy="1030490"/>
            </a:xfrm>
            <a:prstGeom prst="rect">
              <a:avLst/>
            </a:prstGeom>
          </p:spPr>
        </p:pic>
        <p:pic>
          <p:nvPicPr>
            <p:cNvPr id="9" name="图片 8" descr="有意思连标"/>
            <p:cNvPicPr>
              <a:picLocks noChangeAspect="1"/>
            </p:cNvPicPr>
            <p:nvPr userDrawn="1"/>
          </p:nvPicPr>
          <p:blipFill>
            <a:blip r:embed="rId4"/>
            <a:srcRect l="48545"/>
            <a:stretch>
              <a:fillRect/>
            </a:stretch>
          </p:blipFill>
          <p:spPr>
            <a:xfrm>
              <a:off x="5315373" y="2268644"/>
              <a:ext cx="1782113" cy="1034157"/>
            </a:xfrm>
            <a:prstGeom prst="rect">
              <a:avLst/>
            </a:prstGeom>
          </p:spPr>
        </p:pic>
        <p:pic>
          <p:nvPicPr>
            <p:cNvPr id="10" name="图片 9" descr="连标"/>
            <p:cNvPicPr>
              <a:picLocks noChangeAspect="1"/>
            </p:cNvPicPr>
            <p:nvPr userDrawn="1"/>
          </p:nvPicPr>
          <p:blipFill>
            <a:blip r:embed="rId3"/>
            <a:srcRect l="30287" r="64013"/>
            <a:stretch>
              <a:fillRect/>
            </a:stretch>
          </p:blipFill>
          <p:spPr>
            <a:xfrm>
              <a:off x="5029656" y="2366234"/>
              <a:ext cx="242175" cy="932900"/>
            </a:xfrm>
            <a:prstGeom prst="rect">
              <a:avLst/>
            </a:prstGeom>
          </p:spPr>
        </p:pic>
      </p:grpSp>
      <p:pic>
        <p:nvPicPr>
          <p:cNvPr id="2" name="图片 1" descr="未标题-1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496685" y="5886450"/>
            <a:ext cx="5171440" cy="8388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"/>
          <p:cNvPicPr>
            <a:picLocks noChangeAspect="1"/>
          </p:cNvPicPr>
          <p:nvPr userDrawn="1"/>
        </p:nvPicPr>
        <p:blipFill>
          <a:blip r:embed="rId2"/>
          <a:srcRect t="90094"/>
          <a:stretch>
            <a:fillRect/>
          </a:stretch>
        </p:blipFill>
        <p:spPr>
          <a:xfrm>
            <a:off x="0" y="6176963"/>
            <a:ext cx="12192000" cy="6791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背景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6095"/>
          </a:xfrm>
          <a:prstGeom prst="rect">
            <a:avLst/>
          </a:prstGeom>
        </p:spPr>
      </p:pic>
      <p:pic>
        <p:nvPicPr>
          <p:cNvPr id="3" name="图片 2" descr="未标题-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496685" y="5886450"/>
            <a:ext cx="5171440" cy="838835"/>
          </a:xfrm>
          <a:prstGeom prst="rect">
            <a:avLst/>
          </a:prstGeom>
        </p:spPr>
      </p:pic>
      <p:grpSp>
        <p:nvGrpSpPr>
          <p:cNvPr id="11" name="组合 10"/>
          <p:cNvGrpSpPr/>
          <p:nvPr userDrawn="1"/>
        </p:nvGrpSpPr>
        <p:grpSpPr>
          <a:xfrm>
            <a:off x="7030548" y="109257"/>
            <a:ext cx="4921967" cy="1038173"/>
            <a:chOff x="2175519" y="2264628"/>
            <a:chExt cx="4921967" cy="1038173"/>
          </a:xfrm>
        </p:grpSpPr>
        <p:pic>
          <p:nvPicPr>
            <p:cNvPr id="12" name="图片 11" descr="连标"/>
            <p:cNvPicPr>
              <a:picLocks noChangeAspect="1"/>
            </p:cNvPicPr>
            <p:nvPr/>
          </p:nvPicPr>
          <p:blipFill>
            <a:blip r:embed="rId4"/>
            <a:srcRect r="64013"/>
            <a:stretch>
              <a:fillRect/>
            </a:stretch>
          </p:blipFill>
          <p:spPr>
            <a:xfrm>
              <a:off x="2175519" y="2362218"/>
              <a:ext cx="1528881" cy="932900"/>
            </a:xfrm>
            <a:prstGeom prst="rect">
              <a:avLst/>
            </a:prstGeom>
          </p:spPr>
        </p:pic>
        <p:pic>
          <p:nvPicPr>
            <p:cNvPr id="13" name="图片 12" descr="有意思连标"/>
            <p:cNvPicPr>
              <a:picLocks noChangeAspect="1"/>
            </p:cNvPicPr>
            <p:nvPr/>
          </p:nvPicPr>
          <p:blipFill>
            <a:blip r:embed="rId5"/>
            <a:srcRect r="55699"/>
            <a:stretch>
              <a:fillRect/>
            </a:stretch>
          </p:blipFill>
          <p:spPr>
            <a:xfrm>
              <a:off x="3468117" y="2264628"/>
              <a:ext cx="1528882" cy="1030490"/>
            </a:xfrm>
            <a:prstGeom prst="rect">
              <a:avLst/>
            </a:prstGeom>
          </p:spPr>
        </p:pic>
        <p:pic>
          <p:nvPicPr>
            <p:cNvPr id="15" name="图片 14" descr="有意思连标"/>
            <p:cNvPicPr>
              <a:picLocks noChangeAspect="1"/>
            </p:cNvPicPr>
            <p:nvPr userDrawn="1"/>
          </p:nvPicPr>
          <p:blipFill>
            <a:blip r:embed="rId5"/>
            <a:srcRect l="48545"/>
            <a:stretch>
              <a:fillRect/>
            </a:stretch>
          </p:blipFill>
          <p:spPr>
            <a:xfrm>
              <a:off x="5315373" y="2268644"/>
              <a:ext cx="1782113" cy="1034157"/>
            </a:xfrm>
            <a:prstGeom prst="rect">
              <a:avLst/>
            </a:prstGeom>
          </p:spPr>
        </p:pic>
        <p:pic>
          <p:nvPicPr>
            <p:cNvPr id="16" name="图片 15" descr="连标"/>
            <p:cNvPicPr>
              <a:picLocks noChangeAspect="1"/>
            </p:cNvPicPr>
            <p:nvPr userDrawn="1"/>
          </p:nvPicPr>
          <p:blipFill>
            <a:blip r:embed="rId4"/>
            <a:srcRect l="30287" r="64013"/>
            <a:stretch>
              <a:fillRect/>
            </a:stretch>
          </p:blipFill>
          <p:spPr>
            <a:xfrm>
              <a:off x="5029656" y="2366234"/>
              <a:ext cx="242175" cy="93290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C58FFC-3A76-4D99-AB9F-7999D757834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7A21B9-1903-450D-A962-157248E63012}" type="slidenum">
              <a:rPr lang="zh-CN" altLang="en-US" smtClean="0"/>
            </a:fld>
            <a:endParaRPr lang="zh-CN" alt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5673725" y="6530340"/>
            <a:ext cx="876300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CN" altLang="en-US" sz="900">
                <a:solidFill>
                  <a:srgbClr val="008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C1 - Internal use</a:t>
            </a:r>
            <a:endParaRPr lang="zh-CN" altLang="en-US" sz="900">
              <a:solidFill>
                <a:srgbClr val="008000">
                  <a:alpha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28"/>
          <p:cNvSpPr/>
          <p:nvPr/>
        </p:nvSpPr>
        <p:spPr>
          <a:xfrm>
            <a:off x="1436862" y="4048271"/>
            <a:ext cx="8500425" cy="119149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defTabSz="967740">
              <a:lnSpc>
                <a:spcPct val="130000"/>
              </a:lnSpc>
            </a:pPr>
            <a:r>
              <a:rPr lang="zh-CN" altLang="en-US" sz="1500" dirty="0" b="0">
                <a:solidFill>
                  <a:srgbClr val="FFFFFF"/>
                </a:solidFill>
                <a:latin typeface="思源黑体 CN Light" panose="020B0300000000000000" charset="-122"/>
                <a:ea typeface="思源黑体 CN Light" panose="020B0300000000000000" charset="-122"/>
                <a:sym typeface="+mn-ea"/>
              </a:rPr>
              <a:t>面向视障人群的无障碍美妆助手：把口红色号翻译成声音与语言。</a:t>
            </a:r>
            <a:endParaRPr lang="zh-CN" altLang="en-US" sz="1400" dirty="0">
              <a:solidFill>
                <a:srgbClr val="FFFFFF"/>
              </a:solidFill>
              <a:latin typeface="思源黑体 CN Light" panose="020B0300000000000000" charset="-122"/>
              <a:ea typeface="思源黑体 CN Light" panose="020B0300000000000000" charset="-122"/>
              <a:sym typeface="+mn-ea"/>
            </a:endParaRPr>
          </a:p>
          <a:p>
            <a:pPr defTabSz="967740">
              <a:lnSpc>
                <a:spcPct val="130000"/>
              </a:lnSpc>
            </a:pPr>
            <a:r>
              <a:rPr lang="zh-CN" altLang="en-US" sz="1200" dirty="0" b="0">
                <a:solidFill>
                  <a:srgbClr val="EFE2F7"/>
                </a:solidFill>
                <a:latin typeface="思源黑体 CN Light" panose="020B0300000000000000" charset="-122"/>
                <a:ea typeface="思源黑体 CN Light" panose="020B0300000000000000" charset="-122"/>
                <a:sym typeface="+mn-ea"/>
              </a:rPr>
              <a:t>在线体验 https://lulu520-1314.github.io/lightup/</a:t>
            </a:r>
            <a:endParaRPr lang="zh-CN" altLang="en-US" sz="1400" dirty="0">
              <a:solidFill>
                <a:srgbClr val="FFFFFF"/>
              </a:solidFill>
              <a:latin typeface="思源黑体 CN Light" panose="020B0300000000000000" charset="-122"/>
              <a:ea typeface="思源黑体 CN Light" panose="020B0300000000000000" charset="-122"/>
              <a:sym typeface="+mn-ea"/>
            </a:endParaRPr>
          </a:p>
          <a:p>
            <a:pPr defTabSz="967740">
              <a:lnSpc>
                <a:spcPct val="130000"/>
              </a:lnSpc>
            </a:pPr>
            <a:endParaRPr lang="zh-CN" altLang="en-US" sz="1400" dirty="0">
              <a:solidFill>
                <a:srgbClr val="FFFFFF"/>
              </a:solidFill>
              <a:latin typeface="思源黑体 CN Light" panose="020B0300000000000000" charset="-122"/>
              <a:ea typeface="思源黑体 CN Light" panose="020B0300000000000000" charset="-122"/>
              <a:sym typeface="+mn-ea"/>
            </a:endParaRPr>
          </a:p>
        </p:txBody>
      </p:sp>
      <p:sp>
        <p:nvSpPr>
          <p:cNvPr id="9" name="文本框 3"/>
          <p:cNvSpPr txBox="1"/>
          <p:nvPr/>
        </p:nvSpPr>
        <p:spPr>
          <a:xfrm>
            <a:off x="1477182" y="2034216"/>
            <a:ext cx="927795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67740"/>
            <a:r>
              <a:rPr lang="zh-CN" altLang="en-US" sz="4400" b="1" dirty="0">
                <a:solidFill>
                  <a:srgbClr val="FFFFFF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听见颜色</a:t>
            </a:r>
            <a:endParaRPr lang="zh-CN" altLang="en-US" sz="4400" b="1" dirty="0">
              <a:solidFill>
                <a:srgbClr val="FFFFFF"/>
              </a:solidFill>
              <a:latin typeface="思源黑体 CN Bold" panose="020B0800000000000000" charset="-122"/>
              <a:ea typeface="思源黑体 CN Bold" panose="020B0800000000000000" charset="-122"/>
              <a:sym typeface="+mn-ea"/>
            </a:endParaRPr>
          </a:p>
          <a:p>
            <a:pPr defTabSz="967740">
              <a:lnSpc>
                <a:spcPct val="120000"/>
              </a:lnSpc>
            </a:pPr>
            <a:r>
              <a:rPr lang="zh-CN" altLang="en-US" sz="2000" b="0" dirty="0">
                <a:solidFill>
                  <a:srgbClr val="FFFFFF"/>
                </a:solidFill>
                <a:latin typeface="思源黑体 CN Light" panose="020B0800000000000000" charset="-122"/>
                <a:ea typeface="思源黑体 CN Light" panose="020B0800000000000000" charset="-122"/>
                <a:sym typeface="+mn-ea"/>
              </a:rPr>
              <a:t>LightUp 光引 · 无界体验家（主题二）· 队伍：翰林仕</a:t>
            </a:r>
            <a:endParaRPr lang="en-US" altLang="zh-CN" sz="4400" b="1" dirty="0">
              <a:solidFill>
                <a:srgbClr val="FFFFFF"/>
              </a:solidFill>
              <a:latin typeface="思源黑体 CN Bold" panose="020B0800000000000000" charset="-122"/>
              <a:ea typeface="思源黑体 CN Bold" panose="020B0800000000000000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2"/>
          <p:cNvSpPr txBox="1"/>
          <p:nvPr/>
        </p:nvSpPr>
        <p:spPr>
          <a:xfrm>
            <a:off x="832060" y="826166"/>
            <a:ext cx="35079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67740"/>
            <a:r>
              <a:rPr lang="zh-CN" altLang="en-US" sz="4400" b="1" dirty="0">
                <a:solidFill>
                  <a:srgbClr val="3F3F3F">
                    <a:lumMod val="75000"/>
                  </a:srgbClr>
                </a:solidFill>
                <a:latin typeface="思源黑体 CN Bold" panose="020B0800000000000000" charset="-122"/>
                <a:ea typeface="思源黑体 CN Bold" panose="020B0800000000000000" charset="-122"/>
                <a:sym typeface="+mn-ea"/>
              </a:rPr>
              <a:t>内容页</a:t>
            </a:r>
            <a:endParaRPr lang="zh-CN" altLang="en-US" sz="4400" b="1" dirty="0">
              <a:solidFill>
                <a:srgbClr val="3F3F3F">
                  <a:lumMod val="75000"/>
                </a:srgbClr>
              </a:solidFill>
              <a:effectLst>
                <a:outerShdw blurRad="381000" algn="ctr" rotWithShape="0">
                  <a:prstClr val="black">
                    <a:alpha val="25000"/>
                  </a:prstClr>
                </a:outerShdw>
              </a:effectLst>
              <a:latin typeface="思源黑体 CN Bold" panose="020B0800000000000000" charset="-122"/>
              <a:ea typeface="思源黑体 CN Bold" panose="020B0800000000000000" charset="-122"/>
              <a:sym typeface="+mn-ea"/>
            </a:endParaRPr>
          </a:p>
        </p:txBody>
      </p:sp>
      <p:sp>
        <p:nvSpPr>
          <p:cNvPr id="6" name="矩形 3"/>
          <p:cNvSpPr/>
          <p:nvPr/>
        </p:nvSpPr>
        <p:spPr>
          <a:xfrm>
            <a:off x="912683" y="1976422"/>
            <a:ext cx="6910418" cy="330837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defTabSz="967740">
              <a:lnSpc>
                <a:spcPct val="130000"/>
              </a:lnSpc>
            </a:pPr>
            <a:r>
              <a:rPr lang="zh-CN" altLang="en-US" sz="1400" dirty="0">
                <a:solidFill>
                  <a:srgbClr val="3F3F3F">
                    <a:lumMod val="75000"/>
                  </a:srgbClr>
                </a:solidFill>
                <a:latin typeface="思源黑体 CN Light" panose="020B0300000000000000" charset="-122"/>
                <a:ea typeface="思源黑体 CN Light" panose="020B0300000000000000" charset="-122"/>
                <a:sym typeface="+mn-ea"/>
              </a:rPr>
              <a:t>内容需包含作品背景、技术实现方式、作品使用场景、未来完善方向四大板块</a:t>
            </a:r>
            <a:endParaRPr lang="en-US" altLang="zh-CN" sz="1400" dirty="0">
              <a:solidFill>
                <a:srgbClr val="3F3F3F">
                  <a:lumMod val="75000"/>
                </a:srgbClr>
              </a:solidFill>
              <a:latin typeface="思源黑体 CN Light" panose="020B0300000000000000" charset="-122"/>
              <a:ea typeface="思源黑体 CN Light" panose="020B0300000000000000" charset="-122"/>
              <a:sym typeface="+mn-ea"/>
            </a:endParaRPr>
          </a:p>
          <a:p>
            <a:pPr defTabSz="967740">
              <a:lnSpc>
                <a:spcPct val="130000"/>
              </a:lnSpc>
            </a:pPr>
            <a:r>
              <a:rPr lang="zh-CN" altLang="en-US" sz="1400" dirty="0">
                <a:solidFill>
                  <a:srgbClr val="3F3F3F">
                    <a:lumMod val="75000"/>
                  </a:srgbClr>
                </a:solidFill>
                <a:latin typeface="思源黑体 CN Light" panose="020B0300000000000000" charset="-122"/>
                <a:ea typeface="思源黑体 CN Light" panose="020B0300000000000000" charset="-122"/>
                <a:sym typeface="+mn-ea"/>
              </a:rPr>
              <a:t>若有其他板块可酌情呈现</a:t>
            </a:r>
            <a:endParaRPr lang="en-US" altLang="zh-CN" sz="1400" dirty="0">
              <a:solidFill>
                <a:srgbClr val="3F3F3F">
                  <a:lumMod val="75000"/>
                </a:srgbClr>
              </a:solidFill>
              <a:latin typeface="思源黑体 CN Light" panose="020B0300000000000000" charset="-122"/>
              <a:ea typeface="思源黑体 CN Light" panose="020B0300000000000000" charset="-122"/>
              <a:sym typeface="+mn-ea"/>
            </a:endParaRPr>
          </a:p>
          <a:p>
            <a:pPr defTabSz="967740"/>
            <a:endParaRPr lang="en-US" altLang="zh-CN" sz="1400" dirty="0">
              <a:solidFill>
                <a:srgbClr val="3F3F3F">
                  <a:lumMod val="75000"/>
                </a:srgbClr>
              </a:solidFill>
              <a:latin typeface="思源黑体 CN Light" panose="020B0300000000000000" charset="-122"/>
              <a:ea typeface="思源黑体 CN Light" panose="020B0300000000000000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2"/>
          <p:cNvSpPr txBox="1"/>
          <p:nvPr/>
        </p:nvSpPr>
        <p:spPr>
          <a:xfrm>
            <a:off x="747" y="2659198"/>
            <a:ext cx="12190507" cy="186217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思源黑体 CN Light" panose="020B0300000000000000" charset="-122"/>
                <a:ea typeface="思源黑体 CN Light" panose="020B0300000000000000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思源黑体 CN Light" panose="020B0300000000000000" charset="-122"/>
                <a:ea typeface="思源黑体 CN Light" panose="020B0300000000000000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思源黑体 CN Light" panose="020B0300000000000000" charset="-122"/>
                <a:ea typeface="思源黑体 CN Light" panose="020B0300000000000000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思源黑体 CN Light" panose="020B0300000000000000" charset="-122"/>
                <a:ea typeface="思源黑体 CN Light" panose="020B0300000000000000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思源黑体 CN Light" panose="020B0300000000000000" charset="-122"/>
                <a:ea typeface="思源黑体 CN Light" panose="020B0300000000000000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67740">
              <a:spcBef>
                <a:spcPts val="1060"/>
              </a:spcBef>
            </a:pPr>
            <a:r>
              <a:rPr lang="en-US" altLang="zh-CN" sz="4400" b="1" i="1" dirty="0">
                <a:solidFill>
                  <a:srgbClr val="FFFFFF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让美，不依赖眼睛。</a:t>
            </a:r>
            <a:endParaRPr lang="zh-CN" altLang="en-US" sz="7200" b="1" i="1" dirty="0">
              <a:solidFill>
                <a:srgbClr val="FFFFFF"/>
              </a:solidFill>
              <a:latin typeface="思源黑体 CN Bold" panose="020B0800000000000000" charset="-122"/>
              <a:ea typeface="思源黑体 CN Bold" panose="020B0800000000000000" charset="-122"/>
              <a:cs typeface="思源黑体 CN Bold" panose="020B0800000000000000" charset="-122"/>
              <a:sym typeface="+mn-ea"/>
            </a:endParaRPr>
          </a:p>
          <a:p>
            <a:pPr algn="ctr">
              <a:lnSpc>
                <a:spcPct val="145000"/>
              </a:lnSpc>
            </a:pPr>
            <a:r>
              <a:rPr sz="1500" b="0">
                <a:solidFill>
                  <a:srgbClr val="F2E6FA"/>
                </a:solidFill>
                <a:latin typeface="思源黑体 CN Light"/>
                <a:ea typeface="思源黑体 CN Light"/>
              </a:rPr>
              <a:t>在线体验  https://lulu520-1314.github.io/lightup/</a:t>
            </a:r>
          </a:p>
          <a:p>
            <a:pPr algn="ctr">
              <a:lnSpc>
                <a:spcPct val="145000"/>
              </a:lnSpc>
            </a:pPr>
            <a:r>
              <a:rPr sz="1200" b="0">
                <a:solidFill>
                  <a:srgbClr val="E6D2F2"/>
                </a:solidFill>
                <a:latin typeface="思源黑体 CN Light"/>
                <a:ea typeface="思源黑体 CN Light"/>
              </a:rPr>
              <a:t>源码  https://github.com/lulu520-1314/lightup</a:t>
            </a:r>
          </a:p>
        </p:txBody>
      </p:sp>
      <p:pic>
        <p:nvPicPr>
          <p:cNvPr id="6" name="Picture 5" descr="qr-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5151" y="4389120"/>
            <a:ext cx="1005840" cy="10058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0125151" y="4389120"/>
            <a:ext cx="1005840" cy="1005840"/>
          </a:xfrm>
          <a:prstGeom prst="rect">
            <a:avLst/>
          </a:prstGeom>
          <a:noFill/>
          <a:ln w="9525">
            <a:solidFill>
              <a:srgbClr val="E3D6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42271" y="54864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F2E6FA"/>
                </a:solidFill>
                <a:latin typeface="思源黑体 CN Light"/>
                <a:ea typeface="思源黑体 CN Light"/>
              </a:rPr>
              <a:t>扫码在线体验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2104" y="713232"/>
            <a:ext cx="10469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>
                <a:solidFill>
                  <a:srgbClr val="1F1F24"/>
                </a:solidFill>
                <a:latin typeface="思源黑体 CN Bold"/>
                <a:ea typeface="思源黑体 CN Bold"/>
              </a:rPr>
              <a:t>她们买口红时，是在赌一个看不见的答案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" y="1298448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6B6B76"/>
                </a:solidFill>
                <a:latin typeface="思源黑体 CN Light"/>
                <a:ea typeface="思源黑体 CN Light"/>
              </a:rPr>
              <a:t>美妆是社交与就业的“隐形门槛”，而这道门槛对视障人群几乎不可跨越。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32104" y="1719072"/>
            <a:ext cx="822960" cy="41148"/>
          </a:xfrm>
          <a:prstGeom prst="rect">
            <a:avLst/>
          </a:prstGeom>
          <a:solidFill>
            <a:srgbClr val="C42D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32104" y="1892807"/>
            <a:ext cx="3200400" cy="1737360"/>
          </a:xfrm>
          <a:prstGeom prst="roundRect">
            <a:avLst>
              <a:gd name="adj" fmla="val 6000"/>
            </a:avLst>
          </a:prstGeom>
          <a:solidFill>
            <a:srgbClr val="F7F1FB"/>
          </a:solidFill>
          <a:ln w="9525">
            <a:solidFill>
              <a:srgbClr val="E3D6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" y="2066543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1">
                <a:solidFill>
                  <a:srgbClr val="C42DD6"/>
                </a:solidFill>
                <a:latin typeface="思源黑体 CN Bold"/>
                <a:ea typeface="思源黑体 CN Bold"/>
              </a:rPr>
              <a:t>地域局限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" y="2377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1">
                <a:solidFill>
                  <a:srgbClr val="1F1F24"/>
                </a:solidFill>
                <a:latin typeface="思源黑体 CN Bold"/>
                <a:ea typeface="思源黑体 CN Bold"/>
              </a:rPr>
              <a:t>小镇没有专柜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" y="2798064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>
                <a:solidFill>
                  <a:srgbClr val="6B6B76"/>
                </a:solidFill>
                <a:latin typeface="思源黑体 CN Light"/>
                <a:ea typeface="思源黑体 CN Light"/>
              </a:rPr>
              <a:t>试色只能靠网购盲猜，买错就闲置。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33672" y="1892807"/>
            <a:ext cx="3200400" cy="1737360"/>
          </a:xfrm>
          <a:prstGeom prst="roundRect">
            <a:avLst>
              <a:gd name="adj" fmla="val 6000"/>
            </a:avLst>
          </a:prstGeom>
          <a:solidFill>
            <a:srgbClr val="F7F1FB"/>
          </a:solidFill>
          <a:ln w="9525">
            <a:solidFill>
              <a:srgbClr val="E3D6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9704" y="2066543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1">
                <a:solidFill>
                  <a:srgbClr val="C42DD6"/>
                </a:solidFill>
                <a:latin typeface="思源黑体 CN Bold"/>
                <a:ea typeface="思源黑体 CN Bold"/>
              </a:rPr>
              <a:t>认知局限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9704" y="2377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1">
                <a:solidFill>
                  <a:srgbClr val="1F1F24"/>
                </a:solidFill>
                <a:latin typeface="思源黑体 CN Bold"/>
                <a:ea typeface="思源黑体 CN Bold"/>
              </a:rPr>
              <a:t>长辈看不懂成分表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2798064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>
                <a:solidFill>
                  <a:srgbClr val="6B6B76"/>
                </a:solidFill>
                <a:latin typeface="思源黑体 CN Light"/>
                <a:ea typeface="思源黑体 CN Light"/>
              </a:rPr>
              <a:t>“烟酰胺”“视黄醇”像天书，不敢用。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892807"/>
            <a:ext cx="3200400" cy="1737360"/>
          </a:xfrm>
          <a:prstGeom prst="roundRect">
            <a:avLst>
              <a:gd name="adj" fmla="val 6000"/>
            </a:avLst>
          </a:prstGeom>
          <a:solidFill>
            <a:srgbClr val="F7F1FB"/>
          </a:solidFill>
          <a:ln w="9525">
            <a:solidFill>
              <a:srgbClr val="E3D6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91271" y="2066543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1">
                <a:solidFill>
                  <a:srgbClr val="C42DD6"/>
                </a:solidFill>
                <a:latin typeface="思源黑体 CN Bold"/>
                <a:ea typeface="思源黑体 CN Bold"/>
              </a:rPr>
              <a:t>感官局限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91271" y="2377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1">
                <a:solidFill>
                  <a:srgbClr val="1F1F24"/>
                </a:solidFill>
                <a:latin typeface="思源黑体 CN Bold"/>
                <a:ea typeface="思源黑体 CN Bold"/>
              </a:rPr>
              <a:t>分不清口红色号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91271" y="2798064"/>
            <a:ext cx="2697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200" b="0">
                <a:solidFill>
                  <a:srgbClr val="6B6B76"/>
                </a:solidFill>
                <a:latin typeface="思源黑体 CN Light"/>
                <a:ea typeface="思源黑体 CN Light"/>
              </a:rPr>
              <a:t>“正红”和“豆沙”在她们那里是同一个词。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" y="3986784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6B76"/>
                </a:solidFill>
                <a:latin typeface="思源黑体 CN Light"/>
                <a:ea typeface="思源黑体 CN Light"/>
              </a:rPr>
              <a:t>中国视力残疾人群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" y="4279392"/>
            <a:ext cx="29260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4200" b="1">
                <a:solidFill>
                  <a:srgbClr val="7C1CA6"/>
                </a:solidFill>
                <a:latin typeface="思源黑体 CN Bold"/>
                <a:ea typeface="思源黑体 CN Bold"/>
              </a:rPr>
              <a:t>1700万+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66744" y="4425696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3A3A42"/>
                </a:solidFill>
                <a:latin typeface="思源黑体 CN Light"/>
                <a:ea typeface="思源黑体 CN Light"/>
              </a:rPr>
              <a:t>其中女性约占一半，正是美妆的核心用户；她们的需求长期被当作“不需要”。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" y="5102352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6B6B76"/>
                </a:solidFill>
                <a:latin typeface="思源黑体 CN Light"/>
                <a:ea typeface="思源黑体 CN Light"/>
              </a:rPr>
              <a:t>数据口径：中国残联 / 世界卫生组织公开资料整理，用于说明需求规模，非精确统计。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45191" y="74980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6B6B76"/>
                </a:solidFill>
                <a:latin typeface="思源黑体 CN Light"/>
                <a:ea typeface="思源黑体 CN Light"/>
              </a:rPr>
              <a:t>02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2104" y="713232"/>
            <a:ext cx="10469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>
                <a:solidFill>
                  <a:srgbClr val="1F1F24"/>
                </a:solidFill>
                <a:latin typeface="思源黑体 CN Bold"/>
                <a:ea typeface="思源黑体 CN Bold"/>
              </a:rPr>
              <a:t>买前、买时、买后，每一步都在失效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" y="1298448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6B6B76"/>
                </a:solidFill>
                <a:latin typeface="思源黑体 CN Light"/>
                <a:ea typeface="思源黑体 CN Light"/>
              </a:rPr>
              <a:t>把一次购买拆开看：现有的数字化服务，每一步都只服务“看得见的人”。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32104" y="1719072"/>
            <a:ext cx="822960" cy="41148"/>
          </a:xfrm>
          <a:prstGeom prst="rect">
            <a:avLst/>
          </a:prstGeom>
          <a:solidFill>
            <a:srgbClr val="C42D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32104" y="1865376"/>
            <a:ext cx="1115568" cy="420624"/>
          </a:xfrm>
          <a:prstGeom prst="roundRect">
            <a:avLst>
              <a:gd name="adj" fmla="val 6000"/>
            </a:avLst>
          </a:prstGeom>
          <a:solidFill>
            <a:srgbClr val="F7F1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" y="1965960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200" b="1">
                <a:solidFill>
                  <a:srgbClr val="7C1CA6"/>
                </a:solidFill>
                <a:latin typeface="思源黑体 CN Bold"/>
                <a:ea typeface="思源黑体 CN Bold"/>
              </a:rPr>
              <a:t>买前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03704" y="1847088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1">
                <a:solidFill>
                  <a:srgbClr val="1F1F24"/>
                </a:solidFill>
                <a:latin typeface="思源黑体 CN Bold"/>
                <a:ea typeface="思源黑体 CN Bold"/>
              </a:rPr>
              <a:t>不知道买哪支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03704" y="2176272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6B6B76"/>
                </a:solidFill>
                <a:latin typeface="思源黑体 CN Light"/>
                <a:ea typeface="思源黑体 CN Light"/>
              </a:rPr>
              <a:t>色号靠描述，图片靠想象；问客服也只能得到“很显白”。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21424" y="1920240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solidFill>
                  <a:srgbClr val="7C1CA6"/>
                </a:solidFill>
                <a:latin typeface="思源黑体 CN Light"/>
                <a:ea typeface="思源黑体 CN Light"/>
              </a:rPr>
              <a:t>需要的不是参数，而是“这支和那支差在哪”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" y="3127248"/>
            <a:ext cx="1115568" cy="420624"/>
          </a:xfrm>
          <a:prstGeom prst="roundRect">
            <a:avLst>
              <a:gd name="adj" fmla="val 6000"/>
            </a:avLst>
          </a:prstGeom>
          <a:solidFill>
            <a:srgbClr val="7C1C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3227832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思源黑体 CN Bold"/>
                <a:ea typeface="思源黑体 CN Bold"/>
              </a:rPr>
              <a:t>买时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03704" y="310896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1">
                <a:solidFill>
                  <a:srgbClr val="1F1F24"/>
                </a:solidFill>
                <a:latin typeface="思源黑体 CN Bold"/>
                <a:ea typeface="思源黑体 CN Bold"/>
              </a:rPr>
              <a:t>涂上不知道对不对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03704" y="3438144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6B6B76"/>
                </a:solidFill>
                <a:latin typeface="思源黑体 CN Light"/>
                <a:ea typeface="思源黑体 CN Light"/>
              </a:rPr>
              <a:t>没有镜子可以判断，只能凭手感，常常涂出界。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21424" y="3182112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solidFill>
                  <a:srgbClr val="7C1CA6"/>
                </a:solidFill>
                <a:latin typeface="思源黑体 CN Light"/>
                <a:ea typeface="思源黑体 CN Light"/>
              </a:rPr>
              <a:t>需要的是一次可复核的自检：偏了多少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" y="4389120"/>
            <a:ext cx="1115568" cy="420624"/>
          </a:xfrm>
          <a:prstGeom prst="roundRect">
            <a:avLst>
              <a:gd name="adj" fmla="val 6000"/>
            </a:avLst>
          </a:prstGeom>
          <a:solidFill>
            <a:srgbClr val="F7F1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" y="4489704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200" b="1">
                <a:solidFill>
                  <a:srgbClr val="7C1CA6"/>
                </a:solidFill>
                <a:latin typeface="思源黑体 CN Bold"/>
                <a:ea typeface="思源黑体 CN Bold"/>
              </a:rPr>
              <a:t>买后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03704" y="4370832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1">
                <a:solidFill>
                  <a:srgbClr val="1F1F24"/>
                </a:solidFill>
                <a:latin typeface="思源黑体 CN Bold"/>
                <a:ea typeface="思源黑体 CN Bold"/>
              </a:rPr>
              <a:t>换个光线就说不准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03704" y="4700016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6B6B76"/>
                </a:solidFill>
                <a:latin typeface="思源黑体 CN Light"/>
                <a:ea typeface="思源黑体 CN Light"/>
              </a:rPr>
              <a:t>同一支口红在不同光线下看起来完全不同。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21424" y="4443983"/>
            <a:ext cx="4389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solidFill>
                  <a:srgbClr val="7C1CA6"/>
                </a:solidFill>
                <a:latin typeface="思源黑体 CN Light"/>
                <a:ea typeface="思源黑体 CN Light"/>
              </a:rPr>
              <a:t>需要的是与“颜色本身”比，而不是与画面比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45191" y="74980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6B6B76"/>
                </a:solidFill>
                <a:latin typeface="思源黑体 CN Light"/>
                <a:ea typeface="思源黑体 CN Light"/>
              </a:rPr>
              <a:t>03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2104" y="713232"/>
            <a:ext cx="10469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F1F24"/>
                </a:solidFill>
                <a:latin typeface="思源黑体 CN Bold"/>
                <a:ea typeface="思源黑体 CN Bold"/>
              </a:rPr>
              <a:t>组件都成熟，场景是空的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" y="1298448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6B6B76"/>
                </a:solidFill>
                <a:latin typeface="思源黑体 CN Light"/>
                <a:ea typeface="思源黑体 CN Light"/>
              </a:rPr>
              <a:t>我们检索了开源社区：技术不是瓶颈，缺的是“把它翻译成她们能用的形式”。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32104" y="1719072"/>
            <a:ext cx="822960" cy="41148"/>
          </a:xfrm>
          <a:prstGeom prst="rect">
            <a:avLst/>
          </a:prstGeom>
          <a:solidFill>
            <a:srgbClr val="C42D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2104" y="192024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5200" b="1">
                <a:solidFill>
                  <a:srgbClr val="7C1CA6"/>
                </a:solidFill>
                <a:latin typeface="思源黑体 CN Bold"/>
                <a:ea typeface="思源黑体 CN Bold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2779776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1">
                <a:solidFill>
                  <a:srgbClr val="1F1F24"/>
                </a:solidFill>
                <a:latin typeface="思源黑体 CN Bold"/>
                <a:ea typeface="思源黑体 CN Bold"/>
              </a:rPr>
              <a:t>视障 × 美妆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" y="31089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6B6B76"/>
                </a:solidFill>
                <a:latin typeface="思源黑体 CN Light"/>
                <a:ea typeface="思源黑体 CN Light"/>
              </a:rPr>
              <a:t>几乎没有开源项目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33672" y="192024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5200" b="1">
                <a:solidFill>
                  <a:srgbClr val="7C1CA6"/>
                </a:solidFill>
                <a:latin typeface="思源黑体 CN Bold"/>
                <a:ea typeface="思源黑体 CN Bold"/>
              </a:rPr>
              <a:t>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33672" y="2779776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1">
                <a:solidFill>
                  <a:srgbClr val="1F1F24"/>
                </a:solidFill>
                <a:latin typeface="思源黑体 CN Bold"/>
                <a:ea typeface="思源黑体 CN Bold"/>
              </a:rPr>
              <a:t>成分识别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33672" y="31089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6B6B76"/>
                </a:solidFill>
                <a:latin typeface="思源黑体 CN Light"/>
                <a:ea typeface="思源黑体 CN Light"/>
              </a:rPr>
              <a:t>组件成熟，可直接用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192024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5200" b="1">
                <a:solidFill>
                  <a:srgbClr val="7C1CA6"/>
                </a:solidFill>
                <a:latin typeface="思源黑体 CN Bold"/>
                <a:ea typeface="思源黑体 CN Bold"/>
              </a:rP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2779776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1">
                <a:solidFill>
                  <a:srgbClr val="1F1F24"/>
                </a:solidFill>
                <a:latin typeface="思源黑体 CN Bold"/>
                <a:ea typeface="思源黑体 CN Bold"/>
              </a:rPr>
              <a:t>声音化无障碍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310896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6B6B76"/>
                </a:solidFill>
                <a:latin typeface="思源黑体 CN Light"/>
                <a:ea typeface="思源黑体 CN Light"/>
              </a:rPr>
              <a:t>范式成熟，可直接借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" y="4133087"/>
            <a:ext cx="10515600" cy="10972"/>
          </a:xfrm>
          <a:prstGeom prst="rect">
            <a:avLst/>
          </a:prstGeom>
          <a:solidFill>
            <a:srgbClr val="E3D6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" y="4343400"/>
            <a:ext cx="10424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500" b="0">
                <a:solidFill>
                  <a:srgbClr val="3A3A42"/>
                </a:solidFill>
                <a:latin typeface="思源黑体 CN Light"/>
                <a:ea typeface="思源黑体 CN Light"/>
              </a:rPr>
              <a:t>结论：把视觉、色差、声化这些现成能力接起来，只补“美妆语境下的翻译层”，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500" b="0">
                <a:solidFill>
                  <a:srgbClr val="3A3A42"/>
                </a:solidFill>
                <a:latin typeface="思源黑体 CN Light"/>
                <a:ea typeface="思源黑体 CN Light"/>
              </a:rPr>
              <a:t>就能做出别人没做过的东西——门槛在体验设计，不在算力。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45191" y="74980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6B6B76"/>
                </a:solidFill>
                <a:latin typeface="思源黑体 CN Light"/>
                <a:ea typeface="思源黑体 CN Light"/>
              </a:rPr>
              <a:t>04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2104" y="713232"/>
            <a:ext cx="10469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>
                <a:solidFill>
                  <a:srgbClr val="1F1F24"/>
                </a:solidFill>
                <a:latin typeface="思源黑体 CN Bold"/>
                <a:ea typeface="思源黑体 CN Bold"/>
              </a:rPr>
              <a:t>核心创意：把颜色翻译成一段可记忆的旋律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" y="1298448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6B6B76"/>
                </a:solidFill>
                <a:latin typeface="思源黑体 CN Light"/>
                <a:ea typeface="思源黑体 CN Light"/>
              </a:rPr>
              <a:t>现有 AI 都在“描述世界”，视障者需要的却是“能记住、能复述”的判断依据。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32104" y="1719072"/>
            <a:ext cx="822960" cy="41148"/>
          </a:xfrm>
          <a:prstGeom prst="rect">
            <a:avLst/>
          </a:prstGeom>
          <a:solidFill>
            <a:srgbClr val="C42D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2104" y="1792224"/>
            <a:ext cx="10515600" cy="457200"/>
          </a:xfrm>
          <a:prstGeom prst="rect">
            <a:avLst/>
          </a:prstGeom>
          <a:solidFill>
            <a:srgbClr val="F7F1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86537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1">
                <a:solidFill>
                  <a:srgbClr val="7C1CA6"/>
                </a:solidFill>
                <a:latin typeface="思源黑体 CN Bold"/>
                <a:ea typeface="思源黑体 CN Bold"/>
              </a:rPr>
              <a:t>色相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66544" y="1865376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1F1F24"/>
                </a:solidFill>
                <a:latin typeface="思源黑体 CN Light"/>
                <a:ea typeface="思源黑体 CN Light"/>
              </a:rPr>
              <a:t>五声音阶 · 两个八度（10 个音位）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01384" y="1865376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6B6B76"/>
                </a:solidFill>
                <a:latin typeface="思源黑体 CN Light"/>
                <a:ea typeface="思源黑体 CN Light"/>
              </a:rPr>
              <a:t>任何颜色都有唯一音高位置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35915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1">
                <a:solidFill>
                  <a:srgbClr val="7C1CA6"/>
                </a:solidFill>
                <a:latin typeface="思源黑体 CN Bold"/>
                <a:ea typeface="思源黑体 CN Bold"/>
              </a:rPr>
              <a:t>冷暖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66544" y="2359152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1F1F24"/>
                </a:solidFill>
                <a:latin typeface="思源黑体 CN Light"/>
                <a:ea typeface="思源黑体 CN Light"/>
              </a:rPr>
              <a:t>大三和弦 / 小三和弦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1384" y="2359152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6B6B76"/>
                </a:solidFill>
                <a:latin typeface="思源黑体 CN Light"/>
                <a:ea typeface="思源黑体 CN Light"/>
              </a:rPr>
              <a:t>听一秒就知道偏橘还是偏莓果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" y="2779776"/>
            <a:ext cx="10515600" cy="457200"/>
          </a:xfrm>
          <a:prstGeom prst="rect">
            <a:avLst/>
          </a:prstGeom>
          <a:solidFill>
            <a:srgbClr val="F7F1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852928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1">
                <a:solidFill>
                  <a:srgbClr val="7C1CA6"/>
                </a:solidFill>
                <a:latin typeface="思源黑体 CN Bold"/>
                <a:ea typeface="思源黑体 CN Bold"/>
              </a:rPr>
              <a:t>明度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66544" y="2852928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1F1F24"/>
                </a:solidFill>
                <a:latin typeface="思源黑体 CN Light"/>
                <a:ea typeface="思源黑体 CN Light"/>
              </a:rPr>
              <a:t>音量 + 八度微调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1384" y="2852928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6B6B76"/>
                </a:solidFill>
                <a:latin typeface="思源黑体 CN Light"/>
                <a:ea typeface="思源黑体 CN Light"/>
              </a:rPr>
              <a:t>深色沉、浅色亮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3346704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1">
                <a:solidFill>
                  <a:srgbClr val="7C1CA6"/>
                </a:solidFill>
                <a:latin typeface="思源黑体 CN Bold"/>
                <a:ea typeface="思源黑体 CN Bold"/>
              </a:rPr>
              <a:t>饱和度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66544" y="3346704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1F1F24"/>
                </a:solidFill>
                <a:latin typeface="思源黑体 CN Light"/>
                <a:ea typeface="思源黑体 CN Light"/>
              </a:rPr>
              <a:t>正弦 → 三角 → 锯齿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346704"/>
            <a:ext cx="4754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6B6B76"/>
                </a:solidFill>
                <a:latin typeface="思源黑体 CN Light"/>
                <a:ea typeface="思源黑体 CN Light"/>
              </a:rPr>
              <a:t>越艳，泛音越亮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" y="4297680"/>
            <a:ext cx="932688" cy="219456"/>
          </a:xfrm>
          <a:prstGeom prst="rect">
            <a:avLst/>
          </a:prstGeom>
          <a:solidFill>
            <a:srgbClr val="EA41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" y="4553712"/>
            <a:ext cx="9326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6B6B76"/>
                </a:solidFill>
                <a:latin typeface="思源黑体 CN Light"/>
                <a:ea typeface="思源黑体 CN Light"/>
              </a:rPr>
              <a:t>宫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47088" y="4297680"/>
            <a:ext cx="932688" cy="219456"/>
          </a:xfrm>
          <a:prstGeom prst="rect">
            <a:avLst/>
          </a:prstGeom>
          <a:solidFill>
            <a:srgbClr val="EAA7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47088" y="4553712"/>
            <a:ext cx="9326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6B6B76"/>
                </a:solidFill>
                <a:latin typeface="思源黑体 CN Light"/>
                <a:ea typeface="思源黑体 CN Light"/>
              </a:rPr>
              <a:t>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62072" y="4297680"/>
            <a:ext cx="932688" cy="219456"/>
          </a:xfrm>
          <a:prstGeom prst="rect">
            <a:avLst/>
          </a:prstGeom>
          <a:solidFill>
            <a:srgbClr val="C8EA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62072" y="4553712"/>
            <a:ext cx="9326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6B6B76"/>
                </a:solidFill>
                <a:latin typeface="思源黑体 CN Light"/>
                <a:ea typeface="思源黑体 CN Light"/>
              </a:rPr>
              <a:t>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77056" y="4297680"/>
            <a:ext cx="932688" cy="219456"/>
          </a:xfrm>
          <a:prstGeom prst="rect">
            <a:avLst/>
          </a:prstGeom>
          <a:solidFill>
            <a:srgbClr val="63EA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77056" y="4553712"/>
            <a:ext cx="9326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6B6B76"/>
                </a:solidFill>
                <a:latin typeface="思源黑体 CN Light"/>
                <a:ea typeface="思源黑体 CN Light"/>
              </a:rPr>
              <a:t>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92040" y="4297680"/>
            <a:ext cx="932688" cy="219456"/>
          </a:xfrm>
          <a:prstGeom prst="rect">
            <a:avLst/>
          </a:prstGeom>
          <a:solidFill>
            <a:srgbClr val="41EA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92040" y="4553712"/>
            <a:ext cx="9326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6B6B76"/>
                </a:solidFill>
                <a:latin typeface="思源黑体 CN Light"/>
                <a:ea typeface="思源黑体 CN Light"/>
              </a:rPr>
              <a:t>羽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07024" y="4297680"/>
            <a:ext cx="932688" cy="219456"/>
          </a:xfrm>
          <a:prstGeom prst="rect">
            <a:avLst/>
          </a:prstGeom>
          <a:solidFill>
            <a:srgbClr val="41EA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07024" y="4553712"/>
            <a:ext cx="9326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6B6B76"/>
                </a:solidFill>
                <a:latin typeface="思源黑体 CN Light"/>
                <a:ea typeface="思源黑体 CN Light"/>
              </a:rPr>
              <a:t>宫′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22008" y="4297680"/>
            <a:ext cx="932688" cy="219456"/>
          </a:xfrm>
          <a:prstGeom prst="rect">
            <a:avLst/>
          </a:prstGeom>
          <a:solidFill>
            <a:srgbClr val="4185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22008" y="4553712"/>
            <a:ext cx="9326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6B6B76"/>
                </a:solidFill>
                <a:latin typeface="思源黑体 CN Light"/>
                <a:ea typeface="思源黑体 CN Light"/>
              </a:rPr>
              <a:t>商′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36992" y="4297680"/>
            <a:ext cx="932688" cy="219456"/>
          </a:xfrm>
          <a:prstGeom prst="rect">
            <a:avLst/>
          </a:prstGeom>
          <a:solidFill>
            <a:srgbClr val="6341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36992" y="4553712"/>
            <a:ext cx="9326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6B6B76"/>
                </a:solidFill>
                <a:latin typeface="思源黑体 CN Light"/>
                <a:ea typeface="思源黑体 CN Light"/>
              </a:rPr>
              <a:t>角′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51976" y="4297680"/>
            <a:ext cx="932688" cy="219456"/>
          </a:xfrm>
          <a:prstGeom prst="rect">
            <a:avLst/>
          </a:prstGeom>
          <a:solidFill>
            <a:srgbClr val="C841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51976" y="4553712"/>
            <a:ext cx="9326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6B6B76"/>
                </a:solidFill>
                <a:latin typeface="思源黑体 CN Light"/>
                <a:ea typeface="思源黑体 CN Light"/>
              </a:rPr>
              <a:t>徵′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66960" y="4297680"/>
            <a:ext cx="932688" cy="219456"/>
          </a:xfrm>
          <a:prstGeom prst="rect">
            <a:avLst/>
          </a:prstGeom>
          <a:solidFill>
            <a:srgbClr val="EA41A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66960" y="4553712"/>
            <a:ext cx="9326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900" b="0">
                <a:solidFill>
                  <a:srgbClr val="6B6B76"/>
                </a:solidFill>
                <a:latin typeface="思源黑体 CN Light"/>
                <a:ea typeface="思源黑体 CN Light"/>
              </a:rPr>
              <a:t>羽′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" y="4882896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6B6B76"/>
                </a:solidFill>
                <a:latin typeface="思源黑体 CN Light"/>
                <a:ea typeface="思源黑体 CN Light"/>
              </a:rPr>
              <a:t>360° 色相被切成 10 个音位，每个音位对应一段固定旋律——颜色从此可以被“背下来”。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" y="5321808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700" b="1">
                <a:solidFill>
                  <a:srgbClr val="7C1CA6"/>
                </a:solidFill>
                <a:latin typeface="思源黑体 CN Bold"/>
                <a:ea typeface="思源黑体 CN Bold"/>
              </a:rPr>
              <a:t>不是“把颜色说出来”，而是“让颜色被记住”。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45191" y="74980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6B6B76"/>
                </a:solidFill>
                <a:latin typeface="思源黑体 CN Light"/>
                <a:ea typeface="思源黑体 CN Light"/>
              </a:rPr>
              <a:t>05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2104" y="713232"/>
            <a:ext cx="10469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>
                <a:solidFill>
                  <a:srgbClr val="1F1F24"/>
                </a:solidFill>
                <a:latin typeface="思源黑体 CN Bold"/>
                <a:ea typeface="思源黑体 CN Bold"/>
              </a:rPr>
              <a:t>一条完整链路：从“不知道买哪支”到“涂完确认没出界”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" y="1243584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6B6B76"/>
                </a:solidFill>
                <a:latin typeface="思源黑体 CN Light"/>
                <a:ea typeface="思源黑体 CN Light"/>
              </a:rPr>
              <a:t>四个模块不是四个孤立功能，而是一次购买的前、中、后三段。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32104" y="1664208"/>
            <a:ext cx="822960" cy="41148"/>
          </a:xfrm>
          <a:prstGeom prst="rect">
            <a:avLst/>
          </a:prstGeom>
          <a:solidFill>
            <a:srgbClr val="C42D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32104" y="2048256"/>
            <a:ext cx="2331720" cy="2103120"/>
          </a:xfrm>
          <a:prstGeom prst="roundRect">
            <a:avLst>
              <a:gd name="adj" fmla="val 6000"/>
            </a:avLst>
          </a:prstGeom>
          <a:solidFill>
            <a:srgbClr val="F7F1FB"/>
          </a:solidFill>
          <a:ln w="9525">
            <a:solidFill>
              <a:srgbClr val="E3D6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231136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1">
                <a:solidFill>
                  <a:srgbClr val="C42DD6"/>
                </a:solidFill>
                <a:latin typeface="思源黑体 CN Bold"/>
                <a:ea typeface="思源黑体 CN Bol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50545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900" b="1">
                <a:solidFill>
                  <a:srgbClr val="1F1F24"/>
                </a:solidFill>
                <a:latin typeface="思源黑体 CN Bold"/>
                <a:ea typeface="思源黑体 CN Bold"/>
              </a:rPr>
              <a:t>选色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92608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7C1CA6"/>
                </a:solidFill>
                <a:latin typeface="思源黑体 CN Light"/>
                <a:ea typeface="思源黑体 CN Light"/>
              </a:rPr>
              <a:t>读色 + 诊肤色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236976"/>
            <a:ext cx="1920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00" b="0">
                <a:solidFill>
                  <a:srgbClr val="6B6B76"/>
                </a:solidFill>
                <a:latin typeface="思源黑体 CN Light"/>
                <a:ea typeface="思源黑体 CN Light"/>
              </a:rPr>
              <a:t>读到这支是什么色，也读到自己的肤色适合什么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91256" y="2889504"/>
            <a:ext cx="3291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400" b="0">
                <a:solidFill>
                  <a:srgbClr val="C42DD6"/>
                </a:solidFill>
                <a:latin typeface="思源黑体 CN Light"/>
                <a:ea typeface="思源黑体 CN Light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9584" y="2048256"/>
            <a:ext cx="2331720" cy="2103120"/>
          </a:xfrm>
          <a:prstGeom prst="roundRect">
            <a:avLst>
              <a:gd name="adj" fmla="val 6000"/>
            </a:avLst>
          </a:prstGeom>
          <a:solidFill>
            <a:srgbClr val="F7F1FB"/>
          </a:solidFill>
          <a:ln w="9525">
            <a:solidFill>
              <a:srgbClr val="E3D6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2231136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1">
                <a:solidFill>
                  <a:srgbClr val="C42DD6"/>
                </a:solidFill>
                <a:latin typeface="思源黑体 CN Bold"/>
                <a:ea typeface="思源黑体 CN Bol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50545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900" b="1">
                <a:solidFill>
                  <a:srgbClr val="1F1F24"/>
                </a:solidFill>
                <a:latin typeface="思源黑体 CN Bold"/>
                <a:ea typeface="思源黑体 CN Bold"/>
              </a:rPr>
              <a:t>试色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292608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7C1CA6"/>
                </a:solidFill>
                <a:latin typeface="思源黑体 CN Light"/>
                <a:ea typeface="思源黑体 CN Light"/>
              </a:rPr>
              <a:t>试色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3236976"/>
            <a:ext cx="1920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00" b="0">
                <a:solidFill>
                  <a:srgbClr val="6B6B76"/>
                </a:solidFill>
                <a:latin typeface="思源黑体 CN Light"/>
                <a:ea typeface="思源黑体 CN Light"/>
              </a:rPr>
              <a:t>在唇形上直接看效果，一秒换一支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88736" y="2889504"/>
            <a:ext cx="3291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400" b="0">
                <a:solidFill>
                  <a:srgbClr val="C42DD6"/>
                </a:solidFill>
                <a:latin typeface="思源黑体 CN Light"/>
                <a:ea typeface="思源黑体 CN Light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7064" y="2048256"/>
            <a:ext cx="2331720" cy="2103120"/>
          </a:xfrm>
          <a:prstGeom prst="roundRect">
            <a:avLst>
              <a:gd name="adj" fmla="val 6000"/>
            </a:avLst>
          </a:prstGeom>
          <a:solidFill>
            <a:srgbClr val="F7F1FB"/>
          </a:solidFill>
          <a:ln w="9525">
            <a:solidFill>
              <a:srgbClr val="E3D6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231136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1">
                <a:solidFill>
                  <a:srgbClr val="C42DD6"/>
                </a:solidFill>
                <a:latin typeface="思源黑体 CN Bold"/>
                <a:ea typeface="思源黑体 CN Bol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50545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900" b="1">
                <a:solidFill>
                  <a:srgbClr val="1F1F24"/>
                </a:solidFill>
                <a:latin typeface="思源黑体 CN Bold"/>
                <a:ea typeface="思源黑体 CN Bold"/>
              </a:rPr>
              <a:t>验妆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92608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7C1CA6"/>
                </a:solidFill>
                <a:latin typeface="思源黑体 CN Light"/>
                <a:ea typeface="思源黑体 CN Light"/>
              </a:rPr>
              <a:t>查妆容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236976"/>
            <a:ext cx="1920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00" b="0">
                <a:solidFill>
                  <a:srgbClr val="6B6B76"/>
                </a:solidFill>
                <a:latin typeface="思源黑体 CN Light"/>
                <a:ea typeface="思源黑体 CN Light"/>
              </a:rPr>
              <a:t>涂完再测一次，与刚才记住的目标色比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2889504"/>
            <a:ext cx="3291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400" b="0">
                <a:solidFill>
                  <a:srgbClr val="C42DD6"/>
                </a:solidFill>
                <a:latin typeface="思源黑体 CN Light"/>
                <a:ea typeface="思源黑体 CN Light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24544" y="2048256"/>
            <a:ext cx="2331720" cy="2103120"/>
          </a:xfrm>
          <a:prstGeom prst="roundRect">
            <a:avLst>
              <a:gd name="adj" fmla="val 6000"/>
            </a:avLst>
          </a:prstGeom>
          <a:solidFill>
            <a:srgbClr val="F7F1FB"/>
          </a:solidFill>
          <a:ln w="9525">
            <a:solidFill>
              <a:srgbClr val="E3D6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2231136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1">
                <a:solidFill>
                  <a:srgbClr val="C42DD6"/>
                </a:solidFill>
                <a:latin typeface="思源黑体 CN Bold"/>
                <a:ea typeface="思源黑体 CN Bold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50545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900" b="1">
                <a:solidFill>
                  <a:srgbClr val="1F1F24"/>
                </a:solidFill>
                <a:latin typeface="思源黑体 CN Bold"/>
                <a:ea typeface="思源黑体 CN Bold"/>
              </a:rPr>
              <a:t>复述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292608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7C1CA6"/>
                </a:solidFill>
                <a:latin typeface="思源黑体 CN Light"/>
                <a:ea typeface="思源黑体 CN Light"/>
              </a:rPr>
              <a:t>语音 + 旋律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236976"/>
            <a:ext cx="19202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00" b="0">
                <a:solidFill>
                  <a:srgbClr val="6B6B76"/>
                </a:solidFill>
                <a:latin typeface="思源黑体 CN Light"/>
                <a:ea typeface="思源黑体 CN Light"/>
              </a:rPr>
              <a:t>每一步都能“听”到结论，也能再听一次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" y="466344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400" b="0">
                <a:solidFill>
                  <a:srgbClr val="3A3A42"/>
                </a:solidFill>
                <a:latin typeface="思源黑体 CN Light"/>
                <a:ea typeface="思源黑体 CN Light"/>
              </a:rPr>
              <a:t>每个模块都能单独使用，串起来才是一条“闭着眼也能完成”的动线。</a:t>
            </a:r>
          </a:p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400" b="0">
                <a:solidFill>
                  <a:srgbClr val="3A3A42"/>
                </a:solidFill>
                <a:latin typeface="思源黑体 CN Light"/>
                <a:ea typeface="思源黑体 CN Light"/>
              </a:rPr>
              <a:t>接下来四页，逐个展示它们真实运行的样子。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45191" y="74980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6B6B76"/>
                </a:solidFill>
                <a:latin typeface="思源黑体 CN Light"/>
                <a:ea typeface="思源黑体 CN Light"/>
              </a:rPr>
              <a:t>06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2104" y="713232"/>
            <a:ext cx="10469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F1F24"/>
                </a:solidFill>
                <a:latin typeface="思源黑体 CN Bold"/>
                <a:ea typeface="思源黑体 CN Bold"/>
              </a:rPr>
              <a:t>01  读色：点哪读哪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" y="1298448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6B6B76"/>
                </a:solidFill>
                <a:latin typeface="思源黑体 CN Light"/>
                <a:ea typeface="思源黑体 CN Light"/>
              </a:rPr>
              <a:t>把口红对准圆框，或点击画面任意位置，立刻得到色号与判断。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32104" y="1719072"/>
            <a:ext cx="822960" cy="41148"/>
          </a:xfrm>
          <a:prstGeom prst="rect">
            <a:avLst/>
          </a:prstGeom>
          <a:solidFill>
            <a:srgbClr val="C42D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10-read.png"/>
          <p:cNvPicPr>
            <a:picLocks noChangeAspect="1"/>
          </p:cNvPicPr>
          <p:nvPr/>
        </p:nvPicPr>
        <p:blipFill>
          <a:blip r:embed="rId2"/>
          <a:srcRect t="700" b="700"/>
          <a:stretch>
            <a:fillRect/>
          </a:stretch>
        </p:blipFill>
        <p:spPr>
          <a:xfrm>
            <a:off x="832104" y="1920240"/>
            <a:ext cx="5440680" cy="3017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" y="1920240"/>
            <a:ext cx="5440680" cy="3017520"/>
          </a:xfrm>
          <a:prstGeom prst="rect">
            <a:avLst/>
          </a:prstGeom>
          <a:noFill/>
          <a:ln w="9525">
            <a:solidFill>
              <a:srgbClr val="E3D6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5010912"/>
            <a:ext cx="5440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6B6B76"/>
                </a:solidFill>
                <a:latin typeface="思源黑体 CN Light"/>
                <a:ea typeface="思源黑体 CN Light"/>
              </a:rPr>
              <a:t>真实运行截图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544" y="1920240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1">
                <a:solidFill>
                  <a:srgbClr val="1F1F24"/>
                </a:solidFill>
                <a:latin typeface="思源黑体 CN Bold"/>
                <a:ea typeface="思源黑体 CN Bold"/>
              </a:rPr>
              <a:t>任意位置取样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544" y="2185416"/>
            <a:ext cx="4617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6B6B76"/>
                </a:solidFill>
                <a:latin typeface="思源黑体 CN Light"/>
                <a:ea typeface="思源黑体 CN Light"/>
              </a:rPr>
              <a:t>点击画面即可；圆框随点移动，3–90 px 可调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544" y="2615184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1">
                <a:solidFill>
                  <a:srgbClr val="1F1F24"/>
                </a:solidFill>
                <a:latin typeface="思源黑体 CN Bold"/>
                <a:ea typeface="思源黑体 CN Bold"/>
              </a:rPr>
              <a:t>放大镜微调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544" y="2880360"/>
            <a:ext cx="4617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6B6B76"/>
                </a:solidFill>
                <a:latin typeface="思源黑体 CN Light"/>
                <a:ea typeface="思源黑体 CN Light"/>
              </a:rPr>
              <a:t>右下角实时显示取样区域，方向键可逐像素挪动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8544" y="3310128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1">
                <a:solidFill>
                  <a:srgbClr val="1F1F24"/>
                </a:solidFill>
                <a:latin typeface="思源黑体 CN Bold"/>
                <a:ea typeface="思源黑体 CN Bold"/>
              </a:rPr>
              <a:t>三层结果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38544" y="3575304"/>
            <a:ext cx="4617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6B6B76"/>
                </a:solidFill>
                <a:latin typeface="思源黑体 CN Light"/>
                <a:ea typeface="思源黑体 CN Light"/>
              </a:rPr>
              <a:t>色号 + 冷暖 + ΔE 偏差 + 最接近的 3 支色号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38544" y="4005072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1">
                <a:solidFill>
                  <a:srgbClr val="1F1F24"/>
                </a:solidFill>
                <a:latin typeface="思源黑体 CN Bold"/>
                <a:ea typeface="思源黑体 CN Bold"/>
              </a:rPr>
              <a:t>双通道输出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38544" y="4270248"/>
            <a:ext cx="4617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6B6B76"/>
                </a:solidFill>
                <a:latin typeface="思源黑体 CN Light"/>
                <a:ea typeface="思源黑体 CN Light"/>
              </a:rPr>
              <a:t>旋律 + 语音播报，可只听不看，也能再听一次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38544" y="4773168"/>
            <a:ext cx="4617720" cy="548640"/>
          </a:xfrm>
          <a:prstGeom prst="roundRect">
            <a:avLst>
              <a:gd name="adj" fmla="val 6000"/>
            </a:avLst>
          </a:prstGeom>
          <a:solidFill>
            <a:srgbClr val="F7F1FB"/>
          </a:solidFill>
          <a:ln w="9525">
            <a:solidFill>
              <a:srgbClr val="E3D6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21424" y="4864608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1">
                <a:solidFill>
                  <a:srgbClr val="7C1CA6"/>
                </a:solidFill>
                <a:latin typeface="思源黑体 CN Bold"/>
                <a:ea typeface="思源黑体 CN Bold"/>
              </a:rPr>
              <a:t>ΔE 6.4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1624" y="4937760"/>
            <a:ext cx="26974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6B6B76"/>
                </a:solidFill>
                <a:latin typeface="思源黑体 CN Light"/>
                <a:ea typeface="思源黑体 CN Light"/>
              </a:rPr>
              <a:t>判定“明显接近”，对应色卡 复古红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" y="5413248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6B6B76"/>
                </a:solidFill>
                <a:latin typeface="思源黑体 CN Light"/>
                <a:ea typeface="思源黑体 CN Light"/>
              </a:rPr>
              <a:t>对应无障碍：整个过程不需要看见屏幕；点击位置可由他人协助一次，之后可重复。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45191" y="74980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6B6B76"/>
                </a:solidFill>
                <a:latin typeface="思源黑体 CN Light"/>
                <a:ea typeface="思源黑体 CN Light"/>
              </a:rPr>
              <a:t>07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2104" y="713232"/>
            <a:ext cx="10469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>
                <a:solidFill>
                  <a:srgbClr val="1F1F24"/>
                </a:solidFill>
                <a:latin typeface="思源黑体 CN Bold"/>
                <a:ea typeface="思源黑体 CN Bold"/>
              </a:rPr>
              <a:t>02  诊肤色：先知道“我是谁”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" y="1298448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6B6B76"/>
                </a:solidFill>
                <a:latin typeface="思源黑体 CN Light"/>
                <a:ea typeface="思源黑体 CN Light"/>
              </a:rPr>
              <a:t>两颊 + 额头三点取样，避开头发与阴影，输出肤色与适配色。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32104" y="1719072"/>
            <a:ext cx="822960" cy="41148"/>
          </a:xfrm>
          <a:prstGeom prst="rect">
            <a:avLst/>
          </a:prstGeom>
          <a:solidFill>
            <a:srgbClr val="C42D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82-skin-enriched.png"/>
          <p:cNvPicPr>
            <a:picLocks noChangeAspect="1"/>
          </p:cNvPicPr>
          <p:nvPr/>
        </p:nvPicPr>
        <p:blipFill>
          <a:blip r:embed="rId2"/>
          <a:srcRect t="700" b="700"/>
          <a:stretch>
            <a:fillRect/>
          </a:stretch>
        </p:blipFill>
        <p:spPr>
          <a:xfrm>
            <a:off x="832104" y="1920240"/>
            <a:ext cx="5440680" cy="3017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" y="1920240"/>
            <a:ext cx="5440680" cy="3017520"/>
          </a:xfrm>
          <a:prstGeom prst="rect">
            <a:avLst/>
          </a:prstGeom>
          <a:noFill/>
          <a:ln w="9525">
            <a:solidFill>
              <a:srgbClr val="E3D6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5010912"/>
            <a:ext cx="5440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6B6B76"/>
                </a:solidFill>
                <a:latin typeface="思源黑体 CN Light"/>
                <a:ea typeface="思源黑体 CN Light"/>
              </a:rPr>
              <a:t>真实运行截图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544" y="1920240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1">
                <a:solidFill>
                  <a:srgbClr val="1F1F24"/>
                </a:solidFill>
                <a:latin typeface="思源黑体 CN Bold"/>
                <a:ea typeface="思源黑体 CN Bold"/>
              </a:rPr>
              <a:t>三点中位取样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544" y="2185416"/>
            <a:ext cx="4617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6B6B76"/>
                </a:solidFill>
                <a:latin typeface="思源黑体 CN Light"/>
                <a:ea typeface="思源黑体 CN Light"/>
              </a:rPr>
              <a:t>左颊 / 右颊 / 额头各取一次，取中位数抵抗发丝遮挡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544" y="2615184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1">
                <a:solidFill>
                  <a:srgbClr val="1F1F24"/>
                </a:solidFill>
                <a:latin typeface="思源黑体 CN Bold"/>
                <a:ea typeface="思源黑体 CN Bold"/>
              </a:rPr>
              <a:t>两个核心指标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544" y="2880360"/>
            <a:ext cx="4617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6B6B76"/>
                </a:solidFill>
                <a:latin typeface="思源黑体 CN Light"/>
                <a:ea typeface="思源黑体 CN Light"/>
              </a:rPr>
              <a:t>ITA° 深浅分级 + 冷暖倾向（暖 / 中性 / 冷）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8544" y="3310128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1">
                <a:solidFill>
                  <a:srgbClr val="1F1F24"/>
                </a:solidFill>
                <a:latin typeface="思源黑体 CN Bold"/>
                <a:ea typeface="思源黑体 CN Bold"/>
              </a:rPr>
              <a:t>推荐而非限定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38544" y="3575304"/>
            <a:ext cx="4617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6B6B76"/>
                </a:solidFill>
                <a:latin typeface="思源黑体 CN Light"/>
                <a:ea typeface="思源黑体 CN Light"/>
              </a:rPr>
              <a:t>按肤色给 3 支“更稳妥”的色号，仍可自由选择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38544" y="4005072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1">
                <a:solidFill>
                  <a:srgbClr val="1F1F24"/>
                </a:solidFill>
                <a:latin typeface="思源黑体 CN Bold"/>
                <a:ea typeface="思源黑体 CN Bold"/>
              </a:rPr>
              <a:t>直接接力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38544" y="4270248"/>
            <a:ext cx="4617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6B6B76"/>
                </a:solidFill>
                <a:latin typeface="思源黑体 CN Light"/>
                <a:ea typeface="思源黑体 CN Light"/>
              </a:rPr>
              <a:t>选中推荐色可一键进入试色，不用再读一次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38544" y="4773168"/>
            <a:ext cx="4617720" cy="548640"/>
          </a:xfrm>
          <a:prstGeom prst="roundRect">
            <a:avLst>
              <a:gd name="adj" fmla="val 6000"/>
            </a:avLst>
          </a:prstGeom>
          <a:solidFill>
            <a:srgbClr val="F7F1FB"/>
          </a:solidFill>
          <a:ln w="9525">
            <a:solidFill>
              <a:srgbClr val="E3D6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21424" y="4864608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1">
                <a:solidFill>
                  <a:srgbClr val="7C1CA6"/>
                </a:solidFill>
                <a:latin typeface="思源黑体 CN Bold"/>
                <a:ea typeface="思源黑体 CN Bold"/>
              </a:rPr>
              <a:t>ITA 66°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1624" y="4937760"/>
            <a:ext cx="26974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6B6B76"/>
                </a:solidFill>
                <a:latin typeface="思源黑体 CN Light"/>
                <a:ea typeface="思源黑体 CN Light"/>
              </a:rPr>
              <a:t>非常浅 · 暖调，推荐 3 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" y="5413248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6B6B76"/>
                </a:solidFill>
                <a:latin typeface="思源黑体 CN Light"/>
                <a:ea typeface="思源黑体 CN Light"/>
              </a:rPr>
              <a:t>肤色判断比“白/黄/黑”细一档：ITA° 能区分“偏白”和“偏黄”，推荐才不至于拍脑袋。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45191" y="74980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6B6B76"/>
                </a:solidFill>
                <a:latin typeface="思源黑体 CN Light"/>
                <a:ea typeface="思源黑体 CN Light"/>
              </a:rPr>
              <a:t>08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2104" y="713232"/>
            <a:ext cx="10469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F1F24"/>
                </a:solidFill>
                <a:latin typeface="思源黑体 CN Bold"/>
                <a:ea typeface="思源黑体 CN Bold"/>
              </a:rPr>
              <a:t>03  查妆容：涂完自己验一遍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" y="1298448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6B6B76"/>
                </a:solidFill>
                <a:latin typeface="思源黑体 CN Light"/>
                <a:ea typeface="思源黑体 CN Light"/>
              </a:rPr>
              <a:t>先记住目标色，涂完再测一次，比的是颜色本身，不是你当下的画面。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32104" y="1719072"/>
            <a:ext cx="822960" cy="41148"/>
          </a:xfrm>
          <a:prstGeom prst="rect">
            <a:avLst/>
          </a:prstGeom>
          <a:solidFill>
            <a:srgbClr val="C42D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11-check.png"/>
          <p:cNvPicPr>
            <a:picLocks noChangeAspect="1"/>
          </p:cNvPicPr>
          <p:nvPr/>
        </p:nvPicPr>
        <p:blipFill>
          <a:blip r:embed="rId2"/>
          <a:srcRect t="700" b="700"/>
          <a:stretch>
            <a:fillRect/>
          </a:stretch>
        </p:blipFill>
        <p:spPr>
          <a:xfrm>
            <a:off x="832104" y="1920240"/>
            <a:ext cx="5440680" cy="3017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" y="1920240"/>
            <a:ext cx="5440680" cy="3017520"/>
          </a:xfrm>
          <a:prstGeom prst="rect">
            <a:avLst/>
          </a:prstGeom>
          <a:noFill/>
          <a:ln w="9525">
            <a:solidFill>
              <a:srgbClr val="E3D6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5010912"/>
            <a:ext cx="5440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6B6B76"/>
                </a:solidFill>
                <a:latin typeface="思源黑体 CN Light"/>
                <a:ea typeface="思源黑体 CN Light"/>
              </a:rPr>
              <a:t>真实运行截图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544" y="1920240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1">
                <a:solidFill>
                  <a:srgbClr val="1F1F24"/>
                </a:solidFill>
                <a:latin typeface="思源黑体 CN Bold"/>
                <a:ea typeface="思源黑体 CN Bold"/>
              </a:rPr>
              <a:t>记住这个色号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544" y="2185416"/>
            <a:ext cx="4617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6B6B76"/>
                </a:solidFill>
                <a:latin typeface="思源黑体 CN Light"/>
                <a:ea typeface="思源黑体 CN Light"/>
              </a:rPr>
              <a:t>读色后一键存入目标色，后续比对都以它为准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544" y="2615184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1">
                <a:solidFill>
                  <a:srgbClr val="1F1F24"/>
                </a:solidFill>
                <a:latin typeface="思源黑体 CN Bold"/>
                <a:ea typeface="思源黑体 CN Bold"/>
              </a:rPr>
              <a:t>再测一次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544" y="2880360"/>
            <a:ext cx="4617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6B6B76"/>
                </a:solidFill>
                <a:latin typeface="思源黑体 CN Light"/>
                <a:ea typeface="思源黑体 CN Light"/>
              </a:rPr>
              <a:t>对着镜头露出嘴唇，重新取唇部颜色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8544" y="3310128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1">
                <a:solidFill>
                  <a:srgbClr val="1F1F24"/>
                </a:solidFill>
                <a:latin typeface="思源黑体 CN Bold"/>
                <a:ea typeface="思源黑体 CN Bold"/>
              </a:rPr>
              <a:t>偏差分级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38544" y="3575304"/>
            <a:ext cx="4617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6B6B76"/>
                </a:solidFill>
                <a:latin typeface="思源黑体 CN Light"/>
                <a:ea typeface="思源黑体 CN Light"/>
              </a:rPr>
              <a:t>几乎一致 / 明显接近 / 有差别 / 偏差较大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38544" y="4005072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1">
                <a:solidFill>
                  <a:srgbClr val="1F1F24"/>
                </a:solidFill>
                <a:latin typeface="思源黑体 CN Bold"/>
                <a:ea typeface="思源黑体 CN Bold"/>
              </a:rPr>
              <a:t>给下一步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38544" y="4270248"/>
            <a:ext cx="4617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6B6B76"/>
                </a:solidFill>
                <a:latin typeface="思源黑体 CN Light"/>
                <a:ea typeface="思源黑体 CN Light"/>
              </a:rPr>
              <a:t>偏差大就提示补涂方向，而不是只报一个数字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38544" y="4773168"/>
            <a:ext cx="4617720" cy="548640"/>
          </a:xfrm>
          <a:prstGeom prst="roundRect">
            <a:avLst>
              <a:gd name="adj" fmla="val 6000"/>
            </a:avLst>
          </a:prstGeom>
          <a:solidFill>
            <a:srgbClr val="F7F1FB"/>
          </a:solidFill>
          <a:ln w="9525">
            <a:solidFill>
              <a:srgbClr val="E3D6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21424" y="4864608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1">
                <a:solidFill>
                  <a:srgbClr val="7C1CA6"/>
                </a:solidFill>
                <a:latin typeface="思源黑体 CN Bold"/>
                <a:ea typeface="思源黑体 CN Bold"/>
              </a:rPr>
              <a:t>ΔE 6.4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1624" y="4937760"/>
            <a:ext cx="26974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6B6B76"/>
                </a:solidFill>
                <a:latin typeface="思源黑体 CN Light"/>
                <a:ea typeface="思源黑体 CN Light"/>
              </a:rPr>
              <a:t>与目标色“明显接近”，建议补涂一次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" y="5413248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6B6B76"/>
                </a:solidFill>
                <a:latin typeface="思源黑体 CN Light"/>
                <a:ea typeface="思源黑体 CN Light"/>
              </a:rPr>
              <a:t>这是“社会与企业责任”最实在的一环：它让一次失败的化妆可以被自己发现并修正。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45191" y="74980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6B6B76"/>
                </a:solidFill>
                <a:latin typeface="思源黑体 CN Light"/>
                <a:ea typeface="思源黑体 CN Light"/>
              </a:rPr>
              <a:t>09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2104" y="713232"/>
            <a:ext cx="10469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F1F24"/>
                </a:solidFill>
                <a:latin typeface="思源黑体 CN Bold"/>
                <a:ea typeface="思源黑体 CN Bold"/>
              </a:rPr>
              <a:t>04  试色：先看见，再决定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" y="1298448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6B6B76"/>
                </a:solidFill>
                <a:latin typeface="思源黑体 CN Light"/>
                <a:ea typeface="思源黑体 CN Light"/>
              </a:rPr>
              <a:t>选一支色号，直接涂在唇形上看效果，不满意一秒换一支。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32104" y="1719072"/>
            <a:ext cx="822960" cy="41148"/>
          </a:xfrm>
          <a:prstGeom prst="rect">
            <a:avLst/>
          </a:prstGeom>
          <a:solidFill>
            <a:srgbClr val="C42D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80-tryon.png"/>
          <p:cNvPicPr>
            <a:picLocks noChangeAspect="1"/>
          </p:cNvPicPr>
          <p:nvPr/>
        </p:nvPicPr>
        <p:blipFill>
          <a:blip r:embed="rId2"/>
          <a:srcRect t="700" b="700"/>
          <a:stretch>
            <a:fillRect/>
          </a:stretch>
        </p:blipFill>
        <p:spPr>
          <a:xfrm>
            <a:off x="832104" y="1920240"/>
            <a:ext cx="5440680" cy="3017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" y="1920240"/>
            <a:ext cx="5440680" cy="3017520"/>
          </a:xfrm>
          <a:prstGeom prst="rect">
            <a:avLst/>
          </a:prstGeom>
          <a:noFill/>
          <a:ln w="9525">
            <a:solidFill>
              <a:srgbClr val="E3D6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5010912"/>
            <a:ext cx="5440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6B6B76"/>
                </a:solidFill>
                <a:latin typeface="思源黑体 CN Light"/>
                <a:ea typeface="思源黑体 CN Light"/>
              </a:rPr>
              <a:t>真实运行截图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544" y="1920240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1">
                <a:solidFill>
                  <a:srgbClr val="1F1F24"/>
                </a:solidFill>
                <a:latin typeface="思源黑体 CN Bold"/>
                <a:ea typeface="思源黑体 CN Bold"/>
              </a:rPr>
              <a:t>38 支色卡库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544" y="2185416"/>
            <a:ext cx="4617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6B6B76"/>
                </a:solidFill>
                <a:latin typeface="思源黑体 CN Light"/>
                <a:ea typeface="思源黑体 CN Light"/>
              </a:rPr>
              <a:t>方向键网格浏览，点一下就试；可按冷暖 / 深浅筛选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544" y="2615184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1">
                <a:solidFill>
                  <a:srgbClr val="1F1F24"/>
                </a:solidFill>
                <a:latin typeface="思源黑体 CN Bold"/>
                <a:ea typeface="思源黑体 CN Bold"/>
              </a:rPr>
              <a:t>真实质感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544" y="2880360"/>
            <a:ext cx="4617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6B6B76"/>
                </a:solidFill>
                <a:latin typeface="思源黑体 CN Light"/>
                <a:ea typeface="思源黑体 CN Light"/>
              </a:rPr>
              <a:t>只替换唇部的色相与饱和度，保留唇纹与高光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8544" y="3310128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1">
                <a:solidFill>
                  <a:srgbClr val="1F1F24"/>
                </a:solidFill>
                <a:latin typeface="思源黑体 CN Bold"/>
                <a:ea typeface="思源黑体 CN Bold"/>
              </a:rPr>
              <a:t>快速对比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38544" y="3575304"/>
            <a:ext cx="4617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6B6B76"/>
                </a:solidFill>
                <a:latin typeface="思源黑体 CN Light"/>
                <a:ea typeface="思源黑体 CN Light"/>
              </a:rPr>
              <a:t>连续换色，比“想象这支涂上去什么样”靠谱得多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38544" y="4005072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1">
                <a:solidFill>
                  <a:srgbClr val="1F1F24"/>
                </a:solidFill>
                <a:latin typeface="思源黑体 CN Bold"/>
                <a:ea typeface="思源黑体 CN Bold"/>
              </a:rPr>
              <a:t>可复述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38544" y="4270248"/>
            <a:ext cx="46177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6B6B76"/>
                </a:solidFill>
                <a:latin typeface="思源黑体 CN Light"/>
                <a:ea typeface="思源黑体 CN Light"/>
              </a:rPr>
              <a:t>试色同时播报色号与冷暖，视障用户同样能选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38544" y="4773168"/>
            <a:ext cx="4617720" cy="548640"/>
          </a:xfrm>
          <a:prstGeom prst="roundRect">
            <a:avLst>
              <a:gd name="adj" fmla="val 6000"/>
            </a:avLst>
          </a:prstGeom>
          <a:solidFill>
            <a:srgbClr val="F7F1FB"/>
          </a:solidFill>
          <a:ln w="9525">
            <a:solidFill>
              <a:srgbClr val="E3D6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21424" y="4864608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1">
                <a:solidFill>
                  <a:srgbClr val="7C1CA6"/>
                </a:solidFill>
                <a:latin typeface="思源黑体 CN Bold"/>
                <a:ea typeface="思源黑体 CN Bold"/>
              </a:rPr>
              <a:t>38 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1624" y="4937760"/>
            <a:ext cx="269747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6B6B76"/>
                </a:solidFill>
                <a:latin typeface="思源黑体 CN Light"/>
                <a:ea typeface="思源黑体 CN Light"/>
              </a:rPr>
              <a:t>覆盖正红 / 豆沙 / 砖红 / 裸粉等常用色系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" y="5413248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6B6B76"/>
                </a:solidFill>
                <a:latin typeface="思源黑体 CN Light"/>
                <a:ea typeface="思源黑体 CN Light"/>
              </a:rPr>
              <a:t>试色不依赖购买：先在家里看清效果，能显著降低“买错闲置”的浪费。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45191" y="74980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6B6B76"/>
                </a:solidFill>
                <a:latin typeface="思源黑体 CN Light"/>
                <a:ea typeface="思源黑体 CN Light"/>
              </a:rPr>
              <a:t>10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2104" y="713232"/>
            <a:ext cx="10469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F1F24"/>
                </a:solidFill>
                <a:latin typeface="思源黑体 CN Bold"/>
                <a:ea typeface="思源黑体 CN Bold"/>
              </a:rPr>
              <a:t>界面一览：能用的不止四个模块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" y="1298448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6B6B76"/>
                </a:solidFill>
                <a:latin typeface="思源黑体 CN Light"/>
                <a:ea typeface="思源黑体 CN Light"/>
              </a:rPr>
              <a:t>这些页面都在同一个应用里，README 与仓库中都有对应截图。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32104" y="1719072"/>
            <a:ext cx="822960" cy="41148"/>
          </a:xfrm>
          <a:prstGeom prst="rect">
            <a:avLst/>
          </a:prstGeom>
          <a:solidFill>
            <a:srgbClr val="C42D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ui-library.png"/>
          <p:cNvPicPr>
            <a:picLocks noChangeAspect="1"/>
          </p:cNvPicPr>
          <p:nvPr/>
        </p:nvPicPr>
        <p:blipFill>
          <a:blip r:embed="rId2"/>
          <a:srcRect t="10000" b="10000"/>
          <a:stretch>
            <a:fillRect/>
          </a:stretch>
        </p:blipFill>
        <p:spPr>
          <a:xfrm>
            <a:off x="832104" y="1865376"/>
            <a:ext cx="3401568" cy="170078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" y="1865376"/>
            <a:ext cx="3401568" cy="1700784"/>
          </a:xfrm>
          <a:prstGeom prst="rect">
            <a:avLst/>
          </a:prstGeom>
          <a:noFill/>
          <a:ln w="9525">
            <a:solidFill>
              <a:srgbClr val="E3D6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3639312"/>
            <a:ext cx="34015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6B6B76"/>
                </a:solidFill>
                <a:latin typeface="思源黑体 CN Light"/>
                <a:ea typeface="思源黑体 CN Light"/>
              </a:rPr>
              <a:t>色卡库：38 支，可按冷暖筛选、逐支试听</a:t>
            </a:r>
          </a:p>
        </p:txBody>
      </p:sp>
      <p:pic>
        <p:nvPicPr>
          <p:cNvPr id="8" name="Picture 7" descr="ui-tip.png"/>
          <p:cNvPicPr>
            <a:picLocks noChangeAspect="1"/>
          </p:cNvPicPr>
          <p:nvPr/>
        </p:nvPicPr>
        <p:blipFill>
          <a:blip r:embed="rId3"/>
          <a:srcRect t="10000" b="10000"/>
          <a:stretch>
            <a:fillRect/>
          </a:stretch>
        </p:blipFill>
        <p:spPr>
          <a:xfrm>
            <a:off x="4379976" y="1865376"/>
            <a:ext cx="3401568" cy="170078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379976" y="1865376"/>
            <a:ext cx="3401568" cy="1700784"/>
          </a:xfrm>
          <a:prstGeom prst="rect">
            <a:avLst/>
          </a:prstGeom>
          <a:noFill/>
          <a:ln w="9525">
            <a:solidFill>
              <a:srgbClr val="E3D6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79976" y="3639312"/>
            <a:ext cx="34015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6B6B76"/>
                </a:solidFill>
                <a:latin typeface="思源黑体 CN Light"/>
                <a:ea typeface="思源黑体 CN Light"/>
              </a:rPr>
              <a:t>指标解释：点任意数字，弹出通俗说明</a:t>
            </a:r>
          </a:p>
        </p:txBody>
      </p:sp>
      <p:pic>
        <p:nvPicPr>
          <p:cNvPr id="11" name="Picture 10" descr="ui-qa.png"/>
          <p:cNvPicPr>
            <a:picLocks noChangeAspect="1"/>
          </p:cNvPicPr>
          <p:nvPr/>
        </p:nvPicPr>
        <p:blipFill>
          <a:blip r:embed="rId4"/>
          <a:srcRect t="10000" b="10000"/>
          <a:stretch>
            <a:fillRect/>
          </a:stretch>
        </p:blipFill>
        <p:spPr>
          <a:xfrm>
            <a:off x="7927848" y="1865376"/>
            <a:ext cx="3401568" cy="170078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927848" y="1865376"/>
            <a:ext cx="3401568" cy="1700784"/>
          </a:xfrm>
          <a:prstGeom prst="rect">
            <a:avLst/>
          </a:prstGeom>
          <a:noFill/>
          <a:ln w="9525">
            <a:solidFill>
              <a:srgbClr val="E3D6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7848" y="3639312"/>
            <a:ext cx="34015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6B6B76"/>
                </a:solidFill>
                <a:latin typeface="思源黑体 CN Light"/>
                <a:ea typeface="思源黑体 CN Light"/>
              </a:rPr>
              <a:t>问一问：离线回答“这个色适合我吗”</a:t>
            </a:r>
          </a:p>
        </p:txBody>
      </p:sp>
      <p:pic>
        <p:nvPicPr>
          <p:cNvPr id="14" name="Picture 13" descr="ui-calib.png"/>
          <p:cNvPicPr>
            <a:picLocks noChangeAspect="1"/>
          </p:cNvPicPr>
          <p:nvPr/>
        </p:nvPicPr>
        <p:blipFill>
          <a:blip r:embed="rId5"/>
          <a:srcRect t="10000" b="10000"/>
          <a:stretch>
            <a:fillRect/>
          </a:stretch>
        </p:blipFill>
        <p:spPr>
          <a:xfrm>
            <a:off x="832104" y="4114800"/>
            <a:ext cx="3401568" cy="1700784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832104" y="4114800"/>
            <a:ext cx="3401568" cy="1700784"/>
          </a:xfrm>
          <a:prstGeom prst="rect">
            <a:avLst/>
          </a:prstGeom>
          <a:noFill/>
          <a:ln w="9525">
            <a:solidFill>
              <a:srgbClr val="E3D6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" y="5888736"/>
            <a:ext cx="34015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6B6B76"/>
                </a:solidFill>
                <a:latin typeface="思源黑体 CN Light"/>
                <a:ea typeface="思源黑体 CN Light"/>
              </a:rPr>
              <a:t>白平衡：对着白纸点一下，纠正偏色</a:t>
            </a:r>
          </a:p>
        </p:txBody>
      </p:sp>
      <p:pic>
        <p:nvPicPr>
          <p:cNvPr id="17" name="Picture 16" descr="ui-loupe.png"/>
          <p:cNvPicPr>
            <a:picLocks noChangeAspect="1"/>
          </p:cNvPicPr>
          <p:nvPr/>
        </p:nvPicPr>
        <p:blipFill>
          <a:blip r:embed="rId6"/>
          <a:srcRect t="10000" b="10000"/>
          <a:stretch>
            <a:fillRect/>
          </a:stretch>
        </p:blipFill>
        <p:spPr>
          <a:xfrm>
            <a:off x="4379976" y="4114800"/>
            <a:ext cx="3401568" cy="1700784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4379976" y="4114800"/>
            <a:ext cx="3401568" cy="1700784"/>
          </a:xfrm>
          <a:prstGeom prst="rect">
            <a:avLst/>
          </a:prstGeom>
          <a:noFill/>
          <a:ln w="9525">
            <a:solidFill>
              <a:srgbClr val="E3D6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9976" y="5888736"/>
            <a:ext cx="34015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6B6B76"/>
                </a:solidFill>
                <a:latin typeface="思源黑体 CN Light"/>
                <a:ea typeface="思源黑体 CN Light"/>
              </a:rPr>
              <a:t>放大镜：取样区域实时放大，可逐像素微调</a:t>
            </a:r>
          </a:p>
        </p:txBody>
      </p:sp>
      <p:pic>
        <p:nvPicPr>
          <p:cNvPr id="20" name="Picture 19" descr="ui-default.png"/>
          <p:cNvPicPr>
            <a:picLocks noChangeAspect="1"/>
          </p:cNvPicPr>
          <p:nvPr/>
        </p:nvPicPr>
        <p:blipFill>
          <a:blip r:embed="rId7"/>
          <a:srcRect t="10000" b="10000"/>
          <a:stretch>
            <a:fillRect/>
          </a:stretch>
        </p:blipFill>
        <p:spPr>
          <a:xfrm>
            <a:off x="7927848" y="4114800"/>
            <a:ext cx="3401568" cy="1700784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7927848" y="4114800"/>
            <a:ext cx="3401568" cy="1700784"/>
          </a:xfrm>
          <a:prstGeom prst="rect">
            <a:avLst/>
          </a:prstGeom>
          <a:noFill/>
          <a:ln w="9525">
            <a:solidFill>
              <a:srgbClr val="E3D6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27848" y="5888736"/>
            <a:ext cx="34015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6B6B76"/>
                </a:solidFill>
                <a:latin typeface="思源黑体 CN Light"/>
                <a:ea typeface="思源黑体 CN Light"/>
              </a:rPr>
              <a:t>默认界面：示例照片开箱即读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45191" y="74980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6B6B76"/>
                </a:solidFill>
                <a:latin typeface="思源黑体 CN Light"/>
                <a:ea typeface="思源黑体 CN Light"/>
              </a:rPr>
              <a:t>11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2104" y="713232"/>
            <a:ext cx="10469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>
                <a:solidFill>
                  <a:srgbClr val="1F1F24"/>
                </a:solidFill>
                <a:latin typeface="思源黑体 CN Bold"/>
                <a:ea typeface="思源黑体 CN Bold"/>
              </a:rPr>
              <a:t>技术方案：一条跑在浏览器里的本地流水线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" y="1298448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6B6B76"/>
                </a:solidFill>
                <a:latin typeface="思源黑体 CN Light"/>
                <a:ea typeface="思源黑体 CN Light"/>
              </a:rPr>
              <a:t>模型 3.6 MB，随页面下载；首屏不等它，切到人脸功能时才加载。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32104" y="1719072"/>
            <a:ext cx="822960" cy="41148"/>
          </a:xfrm>
          <a:prstGeom prst="rect">
            <a:avLst/>
          </a:prstGeom>
          <a:solidFill>
            <a:srgbClr val="C42D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32104" y="1956816"/>
            <a:ext cx="1874519" cy="1115568"/>
          </a:xfrm>
          <a:prstGeom prst="roundRect">
            <a:avLst>
              <a:gd name="adj" fmla="val 6000"/>
            </a:avLst>
          </a:prstGeom>
          <a:solidFill>
            <a:srgbClr val="F7F1FB"/>
          </a:solidFill>
          <a:ln w="9525">
            <a:solidFill>
              <a:srgbClr val="E3D6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" y="2103120"/>
            <a:ext cx="160019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1">
                <a:solidFill>
                  <a:srgbClr val="C42DD6"/>
                </a:solidFill>
                <a:latin typeface="思源黑体 CN Bold"/>
                <a:ea typeface="思源黑体 CN Bol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" y="2340864"/>
            <a:ext cx="1600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1F1F24"/>
                </a:solidFill>
                <a:latin typeface="思源黑体 CN Bold"/>
                <a:ea typeface="思源黑体 CN Bold"/>
              </a:rPr>
              <a:t>采集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" y="2670048"/>
            <a:ext cx="16459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6B6B76"/>
                </a:solidFill>
                <a:latin typeface="思源黑体 CN Light"/>
                <a:ea typeface="思源黑体 CN Light"/>
              </a:rPr>
              <a:t>摄像头 / 图片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24912" y="2340864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C42DD6"/>
                </a:solidFill>
                <a:latin typeface="思源黑体 CN Light"/>
                <a:ea typeface="思源黑体 CN Light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99232" y="1956816"/>
            <a:ext cx="1874519" cy="1115568"/>
          </a:xfrm>
          <a:prstGeom prst="roundRect">
            <a:avLst>
              <a:gd name="adj" fmla="val 6000"/>
            </a:avLst>
          </a:prstGeom>
          <a:solidFill>
            <a:srgbClr val="F7F1FB"/>
          </a:solidFill>
          <a:ln w="9525">
            <a:solidFill>
              <a:srgbClr val="E3D6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82112" y="2103120"/>
            <a:ext cx="160019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1">
                <a:solidFill>
                  <a:srgbClr val="C42DD6"/>
                </a:solidFill>
                <a:latin typeface="思源黑体 CN Bold"/>
                <a:ea typeface="思源黑体 CN Bol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82112" y="2340864"/>
            <a:ext cx="1600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1F1F24"/>
                </a:solidFill>
                <a:latin typeface="思源黑体 CN Bold"/>
                <a:ea typeface="思源黑体 CN Bold"/>
              </a:rPr>
              <a:t>定位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2112" y="2670048"/>
            <a:ext cx="16459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6B6B76"/>
                </a:solidFill>
                <a:latin typeface="思源黑体 CN Light"/>
                <a:ea typeface="思源黑体 CN Light"/>
              </a:rPr>
              <a:t>478 点人脸网格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340864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C42DD6"/>
                </a:solidFill>
                <a:latin typeface="思源黑体 CN Light"/>
                <a:ea typeface="思源黑体 CN Light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59" y="1956816"/>
            <a:ext cx="1874519" cy="1115568"/>
          </a:xfrm>
          <a:prstGeom prst="roundRect">
            <a:avLst>
              <a:gd name="adj" fmla="val 6000"/>
            </a:avLst>
          </a:prstGeom>
          <a:solidFill>
            <a:srgbClr val="F7F1FB"/>
          </a:solidFill>
          <a:ln w="9525">
            <a:solidFill>
              <a:srgbClr val="E3D6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9240" y="2103120"/>
            <a:ext cx="160019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1">
                <a:solidFill>
                  <a:srgbClr val="C42DD6"/>
                </a:solidFill>
                <a:latin typeface="思源黑体 CN Bold"/>
                <a:ea typeface="思源黑体 CN Bold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340864"/>
            <a:ext cx="1600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1F1F24"/>
                </a:solidFill>
                <a:latin typeface="思源黑体 CN Bold"/>
                <a:ea typeface="思源黑体 CN Bold"/>
              </a:rPr>
              <a:t>采样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2670048"/>
            <a:ext cx="16459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6B6B76"/>
                </a:solidFill>
                <a:latin typeface="思源黑体 CN Light"/>
                <a:ea typeface="思源黑体 CN Light"/>
              </a:rPr>
              <a:t>唇 / 颊 / 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7" y="2340864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C42DD6"/>
                </a:solidFill>
                <a:latin typeface="思源黑体 CN Light"/>
                <a:ea typeface="思源黑体 CN Light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33488" y="1956816"/>
            <a:ext cx="1874519" cy="1115568"/>
          </a:xfrm>
          <a:prstGeom prst="roundRect">
            <a:avLst>
              <a:gd name="adj" fmla="val 6000"/>
            </a:avLst>
          </a:prstGeom>
          <a:solidFill>
            <a:srgbClr val="F7F1FB"/>
          </a:solidFill>
          <a:ln w="9525">
            <a:solidFill>
              <a:srgbClr val="E3D6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16367" y="2103120"/>
            <a:ext cx="160019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1">
                <a:solidFill>
                  <a:srgbClr val="C42DD6"/>
                </a:solidFill>
                <a:latin typeface="思源黑体 CN Bold"/>
                <a:ea typeface="思源黑体 CN Bol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6367" y="2340864"/>
            <a:ext cx="1600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1F1F24"/>
                </a:solidFill>
                <a:latin typeface="思源黑体 CN Bold"/>
                <a:ea typeface="思源黑体 CN Bold"/>
              </a:rPr>
              <a:t>色彩科学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16367" y="2670048"/>
            <a:ext cx="16459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6B6B76"/>
                </a:solidFill>
                <a:latin typeface="思源黑体 CN Light"/>
                <a:ea typeface="思源黑体 CN Light"/>
              </a:rPr>
              <a:t>CIELAB · ΔE · ITA°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26296" y="2340864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000" b="0">
                <a:solidFill>
                  <a:srgbClr val="C42DD6"/>
                </a:solidFill>
                <a:latin typeface="思源黑体 CN Light"/>
                <a:ea typeface="思源黑体 CN Light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0615" y="1956816"/>
            <a:ext cx="1874519" cy="1115568"/>
          </a:xfrm>
          <a:prstGeom prst="roundRect">
            <a:avLst>
              <a:gd name="adj" fmla="val 6000"/>
            </a:avLst>
          </a:prstGeom>
          <a:solidFill>
            <a:srgbClr val="F7F1FB"/>
          </a:solidFill>
          <a:ln w="9525">
            <a:solidFill>
              <a:srgbClr val="E3D6E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83495" y="2103120"/>
            <a:ext cx="160019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00" b="1">
                <a:solidFill>
                  <a:srgbClr val="C42DD6"/>
                </a:solidFill>
                <a:latin typeface="思源黑体 CN Bold"/>
                <a:ea typeface="思源黑体 CN Bold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83495" y="2340864"/>
            <a:ext cx="1600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1F1F24"/>
                </a:solidFill>
                <a:latin typeface="思源黑体 CN Bold"/>
                <a:ea typeface="思源黑体 CN Bold"/>
              </a:rPr>
              <a:t>输出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83495" y="2670048"/>
            <a:ext cx="16459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6B6B76"/>
                </a:solidFill>
                <a:latin typeface="思源黑体 CN Light"/>
                <a:ea typeface="思源黑体 CN Light"/>
              </a:rPr>
              <a:t>声化 + 语音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" y="4096512"/>
            <a:ext cx="1289304" cy="365760"/>
          </a:xfrm>
          <a:prstGeom prst="roundRect">
            <a:avLst>
              <a:gd name="adj" fmla="val 6000"/>
            </a:avLst>
          </a:prstGeom>
          <a:solidFill>
            <a:srgbClr val="F7F1FB"/>
          </a:solidFill>
          <a:ln w="9525">
            <a:solidFill>
              <a:srgbClr val="7C1C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" y="4169663"/>
            <a:ext cx="12893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7C1CA6"/>
                </a:solidFill>
                <a:latin typeface="思源黑体 CN Light"/>
                <a:ea typeface="思源黑体 CN Light"/>
              </a:rPr>
              <a:t>全本地推理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86000" y="4096512"/>
            <a:ext cx="1289304" cy="365760"/>
          </a:xfrm>
          <a:prstGeom prst="roundRect">
            <a:avLst>
              <a:gd name="adj" fmla="val 6000"/>
            </a:avLst>
          </a:prstGeom>
          <a:solidFill>
            <a:srgbClr val="F7F1FB"/>
          </a:solidFill>
          <a:ln w="9525">
            <a:solidFill>
              <a:srgbClr val="7C1C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0" y="4169663"/>
            <a:ext cx="12893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7C1CA6"/>
                </a:solidFill>
                <a:latin typeface="思源黑体 CN Light"/>
                <a:ea typeface="思源黑体 CN Light"/>
              </a:rPr>
              <a:t>无画面外传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39896" y="4096512"/>
            <a:ext cx="1463040" cy="365760"/>
          </a:xfrm>
          <a:prstGeom prst="roundRect">
            <a:avLst>
              <a:gd name="adj" fmla="val 6000"/>
            </a:avLst>
          </a:prstGeom>
          <a:solidFill>
            <a:srgbClr val="F7F1FB"/>
          </a:solidFill>
          <a:ln w="9525">
            <a:solidFill>
              <a:srgbClr val="7C1C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39896" y="4169663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7C1CA6"/>
                </a:solidFill>
                <a:latin typeface="思源黑体 CN Light"/>
                <a:ea typeface="思源黑体 CN Light"/>
              </a:rPr>
              <a:t>无需 GPU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67528" y="4096512"/>
            <a:ext cx="1115568" cy="365760"/>
          </a:xfrm>
          <a:prstGeom prst="roundRect">
            <a:avLst>
              <a:gd name="adj" fmla="val 6000"/>
            </a:avLst>
          </a:prstGeom>
          <a:solidFill>
            <a:srgbClr val="F7F1FB"/>
          </a:solidFill>
          <a:ln w="9525">
            <a:solidFill>
              <a:srgbClr val="7C1C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67528" y="4169663"/>
            <a:ext cx="111556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7C1CA6"/>
                </a:solidFill>
                <a:latin typeface="思源黑体 CN Light"/>
                <a:ea typeface="思源黑体 CN Light"/>
              </a:rPr>
              <a:t>断网可用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47688" y="4096512"/>
            <a:ext cx="1810512" cy="365760"/>
          </a:xfrm>
          <a:prstGeom prst="roundRect">
            <a:avLst>
              <a:gd name="adj" fmla="val 6000"/>
            </a:avLst>
          </a:prstGeom>
          <a:solidFill>
            <a:srgbClr val="F7F1FB"/>
          </a:solidFill>
          <a:ln w="9525">
            <a:solidFill>
              <a:srgbClr val="7C1C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47688" y="4169663"/>
            <a:ext cx="18105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7C1CA6"/>
                </a:solidFill>
                <a:latin typeface="思源黑体 CN Light"/>
                <a:ea typeface="思源黑体 CN Light"/>
              </a:rPr>
              <a:t>首屏 55 KB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" y="4645152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400" b="0">
                <a:solidFill>
                  <a:srgbClr val="3A3A42"/>
                </a:solidFill>
                <a:latin typeface="思源黑体 CN Light"/>
                <a:ea typeface="思源黑体 CN Light"/>
              </a:rPr>
              <a:t>关键取舍：不训练模型，只做“翻译层”。赛题也明确不需要微调大模型，</a:t>
            </a:r>
          </a:p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400" b="0">
                <a:solidFill>
                  <a:srgbClr val="3A3A42"/>
                </a:solidFill>
                <a:latin typeface="思源黑体 CN Light"/>
                <a:ea typeface="思源黑体 CN Light"/>
              </a:rPr>
              <a:t>真正的门槛在交互设计，而不在算力。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" y="5440680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950" b="0">
                <a:solidFill>
                  <a:srgbClr val="6B6B76"/>
                </a:solidFill>
                <a:latin typeface="思源黑体 CN Light"/>
                <a:ea typeface="思源黑体 CN Light"/>
              </a:rPr>
              <a:t>源码与运行说明：https://github.com/lulu520-1314/lightup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45191" y="74980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6B6B76"/>
                </a:solidFill>
                <a:latin typeface="思源黑体 CN Light"/>
                <a:ea typeface="思源黑体 CN Light"/>
              </a:rPr>
              <a:t>12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2104" y="713232"/>
            <a:ext cx="10469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>
                <a:solidFill>
                  <a:srgbClr val="1F1F24"/>
                </a:solidFill>
                <a:latin typeface="思源黑体 CN Bold"/>
                <a:ea typeface="思源黑体 CN Bold"/>
              </a:rPr>
              <a:t>技术方案：让“偏一点”和“差很多”分得开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" y="1298448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6B6B76"/>
                </a:solidFill>
                <a:latin typeface="思源黑体 CN Light"/>
                <a:ea typeface="思源黑体 CN Light"/>
              </a:rPr>
              <a:t>同一个颜色在不同光线下会变，所以不能直接比 RGB。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32104" y="1719072"/>
            <a:ext cx="822960" cy="41148"/>
          </a:xfrm>
          <a:prstGeom prst="rect">
            <a:avLst/>
          </a:prstGeom>
          <a:solidFill>
            <a:srgbClr val="C42D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2104" y="1773936"/>
            <a:ext cx="10515600" cy="768096"/>
          </a:xfrm>
          <a:prstGeom prst="rect">
            <a:avLst/>
          </a:prstGeom>
          <a:solidFill>
            <a:srgbClr val="F7F1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186537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1">
                <a:solidFill>
                  <a:srgbClr val="7C1CA6"/>
                </a:solidFill>
                <a:latin typeface="思源黑体 CN Bold"/>
                <a:ea typeface="思源黑体 CN Bold"/>
              </a:rPr>
              <a:t>① 换到 Lab 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58184" y="1865376"/>
            <a:ext cx="7498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50" b="0">
                <a:solidFill>
                  <a:srgbClr val="3A3A42"/>
                </a:solidFill>
                <a:latin typeface="思源黑体 CN Light"/>
                <a:ea typeface="思源黑体 CN Light"/>
              </a:rPr>
              <a:t>sRGB → CIELAB，用 CIEDE2000 算色差：ΔE&lt;2 几乎看不出，&gt;10 一眼不同。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70662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1">
                <a:solidFill>
                  <a:srgbClr val="7C1CA6"/>
                </a:solidFill>
                <a:latin typeface="思源黑体 CN Bold"/>
                <a:ea typeface="思源黑体 CN Bold"/>
              </a:rPr>
              <a:t>② 用 ITA° 判深浅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58184" y="2706624"/>
            <a:ext cx="7498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50" b="0">
                <a:solidFill>
                  <a:srgbClr val="3A3A42"/>
                </a:solidFill>
                <a:latin typeface="思源黑体 CN Light"/>
                <a:ea typeface="思源黑体 CN Light"/>
              </a:rPr>
              <a:t>ITA° = atan((L*−50) / b*)，比“白/黄/黑”细，能区分偏白与偏黄。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" y="3456432"/>
            <a:ext cx="10515600" cy="768096"/>
          </a:xfrm>
          <a:prstGeom prst="rect">
            <a:avLst/>
          </a:prstGeom>
          <a:solidFill>
            <a:srgbClr val="F7F1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354787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1">
                <a:solidFill>
                  <a:srgbClr val="7C1CA6"/>
                </a:solidFill>
                <a:latin typeface="思源黑体 CN Bold"/>
                <a:ea typeface="思源黑体 CN Bold"/>
              </a:rPr>
              <a:t>③ 先做白平衡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58184" y="3547872"/>
            <a:ext cx="7498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50" b="0">
                <a:solidFill>
                  <a:srgbClr val="3A3A42"/>
                </a:solidFill>
                <a:latin typeface="思源黑体 CN Light"/>
                <a:ea typeface="思源黑体 CN Light"/>
              </a:rPr>
              <a:t>线性光下按 von Kries 校正，抵消冷光暖光，避免同一支口红读出两个色号。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438912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1">
                <a:solidFill>
                  <a:srgbClr val="7C1CA6"/>
                </a:solidFill>
                <a:latin typeface="思源黑体 CN Bold"/>
                <a:ea typeface="思源黑体 CN Bold"/>
              </a:rPr>
              <a:t>④ 取样要稳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58184" y="4389120"/>
            <a:ext cx="749807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50" b="0">
                <a:solidFill>
                  <a:srgbClr val="3A3A42"/>
                </a:solidFill>
                <a:latin typeface="思源黑体 CN Light"/>
                <a:ea typeface="思源黑体 CN Light"/>
              </a:rPr>
              <a:t>剔除高光、多像素取中位、唇部按彩度加权——头发与牙齿不干扰。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539496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1F1F24"/>
                </a:solidFill>
                <a:latin typeface="思源黑体 CN Bold"/>
                <a:ea typeface="思源黑体 CN Bold"/>
              </a:rPr>
              <a:t>结果：同一支口红，在偏冷 / 偏暖 / 偏暗的三种光线下，判定保持一致。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45191" y="74980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6B6B76"/>
                </a:solidFill>
                <a:latin typeface="思源黑体 CN Light"/>
                <a:ea typeface="思源黑体 CN Light"/>
              </a:rPr>
              <a:t>13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2104" y="713232"/>
            <a:ext cx="10469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F1F24"/>
                </a:solidFill>
                <a:latin typeface="思源黑体 CN Bold"/>
                <a:ea typeface="思源黑体 CN Bold"/>
              </a:rPr>
              <a:t>实测：这些数字可以复现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" y="1298448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6B6B76"/>
                </a:solidFill>
                <a:latin typeface="思源黑体 CN Light"/>
                <a:ea typeface="思源黑体 CN Light"/>
              </a:rPr>
              <a:t>仓库里的自检脚本跑一遍即可得到下表，不是估计值。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32104" y="1719072"/>
            <a:ext cx="822960" cy="41148"/>
          </a:xfrm>
          <a:prstGeom prst="rect">
            <a:avLst/>
          </a:prstGeom>
          <a:solidFill>
            <a:srgbClr val="C42D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2104" y="1792224"/>
            <a:ext cx="10515600" cy="438912"/>
          </a:xfrm>
          <a:prstGeom prst="rect">
            <a:avLst/>
          </a:prstGeom>
          <a:solidFill>
            <a:srgbClr val="F7F1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186537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6B6B76"/>
                </a:solidFill>
                <a:latin typeface="思源黑体 CN Light"/>
                <a:ea typeface="思源黑体 CN Light"/>
              </a:rPr>
              <a:t>人脸网格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83864" y="186537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1">
                <a:solidFill>
                  <a:srgbClr val="1F1F24"/>
                </a:solidFill>
                <a:latin typeface="思源黑体 CN Bold"/>
                <a:ea typeface="思源黑体 CN Bold"/>
              </a:rPr>
              <a:t>478 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75704" y="1865376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6B6B76"/>
                </a:solidFill>
                <a:latin typeface="思源黑体 CN Light"/>
                <a:ea typeface="思源黑体 CN Light"/>
              </a:rPr>
              <a:t>浏览器内推理，GPU 委托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235915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6B6B76"/>
                </a:solidFill>
                <a:latin typeface="思源黑体 CN Light"/>
                <a:ea typeface="思源黑体 CN Light"/>
              </a:rPr>
              <a:t>唇色识别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83864" y="23591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1">
                <a:solidFill>
                  <a:srgbClr val="1F1F24"/>
                </a:solidFill>
                <a:latin typeface="思源黑体 CN Bold"/>
                <a:ea typeface="思源黑体 CN Bold"/>
              </a:rPr>
              <a:t>复古红 · ΔE 6.4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75704" y="2359152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6B6B76"/>
                </a:solidFill>
                <a:latin typeface="思源黑体 CN Light"/>
                <a:ea typeface="思源黑体 CN Light"/>
              </a:rPr>
              <a:t>判定“明显接近”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" y="2779776"/>
            <a:ext cx="10515600" cy="438912"/>
          </a:xfrm>
          <a:prstGeom prst="rect">
            <a:avLst/>
          </a:prstGeom>
          <a:solidFill>
            <a:srgbClr val="F7F1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" y="285292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6B6B76"/>
                </a:solidFill>
                <a:latin typeface="思源黑体 CN Light"/>
                <a:ea typeface="思源黑体 CN Light"/>
              </a:rPr>
              <a:t>肤色判定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3864" y="285292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1">
                <a:solidFill>
                  <a:srgbClr val="1F1F24"/>
                </a:solidFill>
                <a:latin typeface="思源黑体 CN Bold"/>
                <a:ea typeface="思源黑体 CN Bold"/>
              </a:rPr>
              <a:t>ITA 66° · 暖调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75704" y="2852928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6B6B76"/>
                </a:solidFill>
                <a:latin typeface="思源黑体 CN Light"/>
                <a:ea typeface="思源黑体 CN Light"/>
              </a:rPr>
              <a:t>三点中位取样，避开头发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334670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6B6B76"/>
                </a:solidFill>
                <a:latin typeface="思源黑体 CN Light"/>
                <a:ea typeface="思源黑体 CN Light"/>
              </a:rPr>
              <a:t>取色准确度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3864" y="334670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1">
                <a:solidFill>
                  <a:srgbClr val="1F1F24"/>
                </a:solidFill>
                <a:latin typeface="思源黑体 CN Bold"/>
                <a:ea typeface="思源黑体 CN Bold"/>
              </a:rPr>
              <a:t>31% → 92%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75704" y="3346704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6B6B76"/>
                </a:solidFill>
                <a:latin typeface="思源黑体 CN Light"/>
                <a:ea typeface="思源黑体 CN Light"/>
              </a:rPr>
              <a:t>模拟偏色 + 高光，13 支色卡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" y="3767328"/>
            <a:ext cx="10515600" cy="438912"/>
          </a:xfrm>
          <a:prstGeom prst="rect">
            <a:avLst/>
          </a:prstGeom>
          <a:solidFill>
            <a:srgbClr val="F7F1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38404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6B6B76"/>
                </a:solidFill>
                <a:latin typeface="思源黑体 CN Light"/>
                <a:ea typeface="思源黑体 CN Light"/>
              </a:rPr>
              <a:t>还原精度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83864" y="38404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1">
                <a:solidFill>
                  <a:srgbClr val="1F1F24"/>
                </a:solidFill>
                <a:latin typeface="思源黑体 CN Bold"/>
                <a:ea typeface="思源黑体 CN Bold"/>
              </a:rPr>
              <a:t>ΔE 6.67 → 3.46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75704" y="384048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6B6B76"/>
                </a:solidFill>
                <a:latin typeface="思源黑体 CN Light"/>
                <a:ea typeface="思源黑体 CN Light"/>
              </a:rPr>
              <a:t>平均色差，开启白平衡后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" y="433425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6B6B76"/>
                </a:solidFill>
                <a:latin typeface="思源黑体 CN Light"/>
                <a:ea typeface="思源黑体 CN Light"/>
              </a:rPr>
              <a:t>端到端自检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83864" y="433425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1">
                <a:solidFill>
                  <a:srgbClr val="1F1F24"/>
                </a:solidFill>
                <a:latin typeface="思源黑体 CN Bold"/>
                <a:ea typeface="思源黑体 CN Bold"/>
              </a:rPr>
              <a:t>6 套 · 0 报错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75704" y="4334256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6B6B76"/>
                </a:solidFill>
                <a:latin typeface="思源黑体 CN Light"/>
                <a:ea typeface="思源黑体 CN Light"/>
              </a:rPr>
              <a:t>文案 / 交互 / 试色 / 色卡库 / 色彩 / 布局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" y="5193792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3A3A42"/>
                </a:solidFill>
                <a:latin typeface="思源黑体 CN Light"/>
                <a:ea typeface="思源黑体 CN Light"/>
              </a:rPr>
              <a:t>限制也写在明处：深肤色样本不足，还需与盲协共创、补充人群测试。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45191" y="74980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6B6B76"/>
                </a:solidFill>
                <a:latin typeface="思源黑体 CN Light"/>
                <a:ea typeface="思源黑体 CN Light"/>
              </a:rPr>
              <a:t>14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2104" y="713232"/>
            <a:ext cx="10469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F1F24"/>
                </a:solidFill>
                <a:latin typeface="思源黑体 CN Bold"/>
                <a:ea typeface="思源黑体 CN Bold"/>
              </a:rPr>
              <a:t>落地价值：一件对三方都成立的事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" y="1298448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6B6B76"/>
                </a:solidFill>
                <a:latin typeface="思源黑体 CN Light"/>
                <a:ea typeface="思源黑体 CN Light"/>
              </a:rPr>
              <a:t>对企业社会责任来说，它不是宣传物料，而是能被用户真正用起来的产品。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32104" y="1719072"/>
            <a:ext cx="822960" cy="41148"/>
          </a:xfrm>
          <a:prstGeom prst="rect">
            <a:avLst/>
          </a:prstGeom>
          <a:solidFill>
            <a:srgbClr val="C42D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32104" y="1865376"/>
            <a:ext cx="54864" cy="1115568"/>
          </a:xfrm>
          <a:prstGeom prst="rect">
            <a:avLst/>
          </a:prstGeom>
          <a:solidFill>
            <a:srgbClr val="C42D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86537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1">
                <a:solidFill>
                  <a:srgbClr val="C42DD6"/>
                </a:solidFill>
                <a:latin typeface="思源黑体 CN Bold"/>
                <a:ea typeface="思源黑体 CN Bold"/>
              </a:rPr>
              <a:t>对用户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86584" y="1847088"/>
            <a:ext cx="4114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1">
                <a:solidFill>
                  <a:srgbClr val="1F1F24"/>
                </a:solidFill>
                <a:latin typeface="思源黑体 CN Bold"/>
                <a:ea typeface="思源黑体 CN Bold"/>
              </a:rPr>
              <a:t>把“能不能买对”变成可判断的事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9984" y="1847088"/>
            <a:ext cx="4480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50" b="0">
                <a:solidFill>
                  <a:srgbClr val="6B6B76"/>
                </a:solidFill>
                <a:latin typeface="思源黑体 CN Light"/>
                <a:ea typeface="思源黑体 CN Light"/>
              </a:rPr>
              <a:t>不用再赌运气，也不用每次都麻烦别人；独立完成一次选择，是尊严问题。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32104" y="3145536"/>
            <a:ext cx="54864" cy="1115568"/>
          </a:xfrm>
          <a:prstGeom prst="rect">
            <a:avLst/>
          </a:prstGeom>
          <a:solidFill>
            <a:srgbClr val="C42D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314553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1">
                <a:solidFill>
                  <a:srgbClr val="C42DD6"/>
                </a:solidFill>
                <a:latin typeface="思源黑体 CN Bold"/>
                <a:ea typeface="思源黑体 CN Bold"/>
              </a:rPr>
              <a:t>对品牌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86584" y="3127248"/>
            <a:ext cx="4114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1">
                <a:solidFill>
                  <a:srgbClr val="1F1F24"/>
                </a:solidFill>
                <a:latin typeface="思源黑体 CN Bold"/>
                <a:ea typeface="思源黑体 CN Bold"/>
              </a:rPr>
              <a:t>一个长期缺席的高价值客群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9984" y="3127248"/>
            <a:ext cx="4480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50" b="0">
                <a:solidFill>
                  <a:srgbClr val="6B6B76"/>
                </a:solidFill>
                <a:latin typeface="思源黑体 CN Light"/>
                <a:ea typeface="思源黑体 CN Light"/>
              </a:rPr>
              <a:t>无障碍不是成本而是增量：1700 万视障人群背后的家庭决策链，同样在买美妆。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" y="4425696"/>
            <a:ext cx="54864" cy="1115568"/>
          </a:xfrm>
          <a:prstGeom prst="rect">
            <a:avLst/>
          </a:prstGeom>
          <a:solidFill>
            <a:srgbClr val="C42D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442569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1">
                <a:solidFill>
                  <a:srgbClr val="C42DD6"/>
                </a:solidFill>
                <a:latin typeface="思源黑体 CN Bold"/>
                <a:ea typeface="思源黑体 CN Bold"/>
              </a:rPr>
              <a:t>对社会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86584" y="4407408"/>
            <a:ext cx="4114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50" b="1">
                <a:solidFill>
                  <a:srgbClr val="1F1F24"/>
                </a:solidFill>
                <a:latin typeface="思源黑体 CN Bold"/>
                <a:ea typeface="思源黑体 CN Bold"/>
              </a:rPr>
              <a:t>把“无障碍”从口号变成可复制的样板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9984" y="4407408"/>
            <a:ext cx="44805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150" b="0">
                <a:solidFill>
                  <a:srgbClr val="6B6B76"/>
                </a:solidFill>
                <a:latin typeface="思源黑体 CN Light"/>
                <a:ea typeface="思源黑体 CN Light"/>
              </a:rPr>
              <a:t>同一套声化与色差能力，可迁移到衣物配色、药品识别、食品保质期等场景。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45191" y="74980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6B6B76"/>
                </a:solidFill>
                <a:latin typeface="思源黑体 CN Light"/>
                <a:ea typeface="思源黑体 CN Light"/>
              </a:rPr>
              <a:t>15 /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32104" y="713232"/>
            <a:ext cx="10469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>
                <a:solidFill>
                  <a:srgbClr val="1F1F24"/>
                </a:solidFill>
                <a:latin typeface="思源黑体 CN Bold"/>
                <a:ea typeface="思源黑体 CN Bold"/>
              </a:rPr>
              <a:t>未来规划：三步，每一步都有交付物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2104" y="1298448"/>
            <a:ext cx="10241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6B6B76"/>
                </a:solidFill>
                <a:latin typeface="思源黑体 CN Light"/>
                <a:ea typeface="思源黑体 CN Light"/>
              </a:rPr>
              <a:t>不画大饼：先证明可用，再证明可复制。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32104" y="1719072"/>
            <a:ext cx="822960" cy="41148"/>
          </a:xfrm>
          <a:prstGeom prst="rect">
            <a:avLst/>
          </a:prstGeom>
          <a:solidFill>
            <a:srgbClr val="C42DD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9264" y="3108960"/>
            <a:ext cx="6812280" cy="18288"/>
          </a:xfrm>
          <a:prstGeom prst="rect">
            <a:avLst/>
          </a:prstGeom>
          <a:solidFill>
            <a:srgbClr val="E3D6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6968" y="3026664"/>
            <a:ext cx="164592" cy="164592"/>
          </a:xfrm>
          <a:prstGeom prst="ellipse">
            <a:avLst/>
          </a:prstGeom>
          <a:solidFill>
            <a:srgbClr val="7C1CA6"/>
          </a:solidFill>
          <a:ln>
            <a:solidFill>
              <a:srgbClr val="7C1C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468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1">
                <a:solidFill>
                  <a:srgbClr val="C42DD6"/>
                </a:solidFill>
                <a:latin typeface="思源黑体 CN Bold"/>
                <a:ea typeface="思源黑体 CN Bold"/>
              </a:rPr>
              <a:t>已完成 · 初赛版本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346704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>
                <a:solidFill>
                  <a:srgbClr val="1F1F24"/>
                </a:solidFill>
                <a:latin typeface="思源黑体 CN Bold"/>
                <a:ea typeface="思源黑体 CN Bold"/>
              </a:rPr>
              <a:t>可运行原型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840480"/>
            <a:ext cx="312724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6B6B76"/>
                </a:solidFill>
                <a:latin typeface="思源黑体 CN Light"/>
                <a:ea typeface="思源黑体 CN Light"/>
              </a:rPr>
              <a:t>四模块 + 色卡库 + 离线问答，开源可演示</a:t>
            </a:r>
          </a:p>
        </p:txBody>
      </p:sp>
      <p:sp>
        <p:nvSpPr>
          <p:cNvPr id="10" name="Oval 9"/>
          <p:cNvSpPr/>
          <p:nvPr/>
        </p:nvSpPr>
        <p:spPr>
          <a:xfrm>
            <a:off x="4343400" y="3026664"/>
            <a:ext cx="164592" cy="164592"/>
          </a:xfrm>
          <a:prstGeom prst="ellipse">
            <a:avLst/>
          </a:prstGeom>
          <a:solidFill>
            <a:srgbClr val="FFFFFF"/>
          </a:solidFill>
          <a:ln>
            <a:solidFill>
              <a:srgbClr val="7C1C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9976" y="2468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1">
                <a:solidFill>
                  <a:srgbClr val="6B6B76"/>
                </a:solidFill>
                <a:latin typeface="思源黑体 CN Bold"/>
                <a:ea typeface="思源黑体 CN Bold"/>
              </a:rPr>
              <a:t>3 个月 · 共创测试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9976" y="3346704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>
                <a:solidFill>
                  <a:srgbClr val="1F1F24"/>
                </a:solidFill>
                <a:latin typeface="思源黑体 CN Bold"/>
                <a:ea typeface="思源黑体 CN Bold"/>
              </a:rPr>
              <a:t>与盲协 20 位用户共创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9976" y="3840480"/>
            <a:ext cx="312724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6B6B76"/>
                </a:solidFill>
                <a:latin typeface="思源黑体 CN Light"/>
                <a:ea typeface="思源黑体 CN Light"/>
              </a:rPr>
              <a:t>真实任务测试，形成可用性报告与问题清单</a:t>
            </a:r>
          </a:p>
        </p:txBody>
      </p:sp>
      <p:sp>
        <p:nvSpPr>
          <p:cNvPr id="14" name="Oval 13"/>
          <p:cNvSpPr/>
          <p:nvPr/>
        </p:nvSpPr>
        <p:spPr>
          <a:xfrm>
            <a:off x="7799831" y="3026664"/>
            <a:ext cx="164592" cy="164592"/>
          </a:xfrm>
          <a:prstGeom prst="ellipse">
            <a:avLst/>
          </a:prstGeom>
          <a:solidFill>
            <a:srgbClr val="FFFFFF"/>
          </a:solidFill>
          <a:ln>
            <a:solidFill>
              <a:srgbClr val="7C1C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36407" y="24688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1">
                <a:solidFill>
                  <a:srgbClr val="6B6B76"/>
                </a:solidFill>
                <a:latin typeface="思源黑体 CN Bold"/>
                <a:ea typeface="思源黑体 CN Bold"/>
              </a:rPr>
              <a:t>6–12 个月 · 门店试点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36407" y="3346704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1">
                <a:solidFill>
                  <a:srgbClr val="1F1F24"/>
                </a:solidFill>
                <a:latin typeface="思源黑体 CN Bold"/>
                <a:ea typeface="思源黑体 CN Bold"/>
              </a:rPr>
              <a:t>1 家门店 · 100 位用户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36407" y="3840480"/>
            <a:ext cx="3127248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6B6B76"/>
                </a:solidFill>
                <a:latin typeface="思源黑体 CN Light"/>
                <a:ea typeface="思源黑体 CN Light"/>
              </a:rPr>
              <a:t>专柜平板形态落地，沉淀服务流程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" y="4956048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3A3A42"/>
                </a:solidFill>
                <a:latin typeface="思源黑体 CN Light"/>
                <a:ea typeface="思源黑体 CN Light"/>
              </a:rPr>
              <a:t>长期：把这套“颜色 → 声音”的能力开放成组件，让更多无障碍产品直接接入。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45191" y="74980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6B6B76"/>
                </a:solidFill>
                <a:latin typeface="思源黑体 CN Light"/>
                <a:ea typeface="思源黑体 CN Light"/>
              </a:rPr>
              <a:t>16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</Words>
  <Application>WPS 演示</Application>
  <PresentationFormat>宽屏</PresentationFormat>
  <Paragraphs>15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Arial</vt:lpstr>
      <vt:lpstr>宋体</vt:lpstr>
      <vt:lpstr>Wingdings</vt:lpstr>
      <vt:lpstr>思源黑体 CN Light</vt:lpstr>
      <vt:lpstr>思源黑体 CN Bold</vt:lpstr>
      <vt:lpstr>微软雅黑</vt:lpstr>
      <vt:lpstr>Arial Unicode MS</vt:lpstr>
      <vt:lpstr>等线 Light</vt:lpstr>
      <vt:lpstr>等线</vt:lpstr>
      <vt:lpstr>Office Theme</vt:lpstr>
      <vt:lpstr>PowerPoint 演示文稿</vt:lpstr>
      <vt:lpstr>PowerPoint 演示文稿</vt:lpstr>
      <vt:lpstr>PowerPoint 演示文稿</vt:lpstr>
    </vt:vector>
  </TitlesOfParts>
  <Company>LOREAL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ZONG Echo</dc:creator>
  <cp:lastModifiedBy>次鱼圆</cp:lastModifiedBy>
  <cp:revision>12</cp:revision>
  <dcterms:created xsi:type="dcterms:W3CDTF">2026-07-09T08:48:00Z</dcterms:created>
  <dcterms:modified xsi:type="dcterms:W3CDTF">2026-07-21T07:33:12Z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3b7177-c66c-4b22-a350-7ee86f9a1e74_Enabled">
    <vt:lpwstr>true</vt:lpwstr>
  </property>
  <property fmtid="{D5CDD505-2E9C-101B-9397-08002B2CF9AE}" pid="3" name="MSIP_Label_f43b7177-c66c-4b22-a350-7ee86f9a1e74_SetDate">
    <vt:lpwstr>2026-07-09T09:48:14Z</vt:lpwstr>
  </property>
  <property fmtid="{D5CDD505-2E9C-101B-9397-08002B2CF9AE}" pid="4" name="MSIP_Label_f43b7177-c66c-4b22-a350-7ee86f9a1e74_Method">
    <vt:lpwstr>Standard</vt:lpwstr>
  </property>
  <property fmtid="{D5CDD505-2E9C-101B-9397-08002B2CF9AE}" pid="5" name="MSIP_Label_f43b7177-c66c-4b22-a350-7ee86f9a1e74_Name">
    <vt:lpwstr>C1_Internal use</vt:lpwstr>
  </property>
  <property fmtid="{D5CDD505-2E9C-101B-9397-08002B2CF9AE}" pid="6" name="MSIP_Label_f43b7177-c66c-4b22-a350-7ee86f9a1e74_SiteId">
    <vt:lpwstr>e4e1abd9-eac7-4a71-ab52-da5c998aa7ba</vt:lpwstr>
  </property>
  <property fmtid="{D5CDD505-2E9C-101B-9397-08002B2CF9AE}" pid="7" name="MSIP_Label_f43b7177-c66c-4b22-a350-7ee86f9a1e74_ActionId">
    <vt:lpwstr>c71fc412-054f-4fbf-a9f7-cba62a6f36cf</vt:lpwstr>
  </property>
  <property fmtid="{D5CDD505-2E9C-101B-9397-08002B2CF9AE}" pid="8" name="MSIP_Label_f43b7177-c66c-4b22-a350-7ee86f9a1e74_ContentBits">
    <vt:lpwstr>2</vt:lpwstr>
  </property>
  <property fmtid="{D5CDD505-2E9C-101B-9397-08002B2CF9AE}" pid="9" name="MSIP_Label_f43b7177-c66c-4b22-a350-7ee86f9a1e74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C1 - Internal use</vt:lpwstr>
  </property>
  <property fmtid="{D5CDD505-2E9C-101B-9397-08002B2CF9AE}" pid="12" name="KSOProductBuildVer">
    <vt:lpwstr>2052-12.1.0.26381</vt:lpwstr>
  </property>
  <property fmtid="{D5CDD505-2E9C-101B-9397-08002B2CF9AE}" pid="13" name="ICV">
    <vt:lpwstr>30F01A577FCB47F4BE17C5D67A36E051_13</vt:lpwstr>
  </property>
</Properties>
</file>